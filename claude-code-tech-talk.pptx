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導入" id="{c49c624c-faf1-7a22-846b-152f23a7e816}">
          <p14:sldIdLst>
            <p14:sldId id="256"/>
            <p14:sldId id="257"/>
          </p14:sldIdLst>
        </p14:section>
        <p14:section name="① オーケストレーター無しの並列 agent" id="{b278148b-9ac4-3f96-feb8-705a4500a604}">
          <p14:sldIdLst>
            <p14:sldId id="258"/>
            <p14:sldId id="259"/>
          </p14:sldIdLst>
        </p14:section>
        <p14:section name="② 評価の分離と /goal" id="{ce163184-f04e-b25c-ec1a-3cac3380977f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③ hook と Mods" id="{bfe74266-870c-6d08-bf1a-5119fdaa0f31}">
          <p14:sldIdLst>
            <p14:sldId id="268"/>
            <p14:sldId id="269"/>
          </p14:sldIdLst>
        </p14:section>
        <p14:section name="④ 安全と防御" id="{1bdc7ae5-74b2-3767-7cce-2e40a104d509}">
          <p14:sldIdLst>
            <p14:sldId id="270"/>
          </p14:sldIdLst>
        </p14:section>
        <p14:section name="議論" id="{4374a46a-3e37-766d-7102-837713ab6d9c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[0:00–0:30]
本日はお時間をいただきありがとうございます。今日の主役は、Claude Code の /goal という機能です。ただし使い方の紹介ではなく、/goal の中にある「agent をどう設計しているか」を、Anthropic の公式ブログと合わせて読み解きます。機能の紹介よりも、仕組みと数字、そして失敗談を中心にします。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[0:30–1:30]
まずこの数字を見てください。Anthropic の研究者が 16 個の Claude を並列に走らせ、ゼロから Rust 製の C コンパイラを書かせました。約 2,000 回の Claude Code セッション、約 2 週間、API コストは約 2 万ドル弱です。結果は約 10 万行で、Linux 6.9 を x86、ARM、RISC-V でビルドでき、主要なコンパイラのテストスイートの 99% を通ります。
ここで注目したいのは、モデルの賢さそのものより「その周りの仕組み」です。人間が頑張ったのはコードではなく、テストと環境の設計でした。今日は、この止まらないループに「終点」と「審判」を付けるとどうなるか、つまり /goal を軸に、公式の記事から 4 つの設計判断を取り出します。
(補足: Opus 4.6 での実験で、インターネット接続なしのクリーンルーム実装です。)
出典: https://www.anthropic.com/engineering/building-c-compiler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[1:30–3:45]
最初の問いです。複数の agent を同時に動かすとき、誰が仕事を割り振るのでしょうか。よくある答えは、管理役のオーケストレーター agent を置くことですが、この事例では置きませんでした。仕組みは驚くほど素朴で、bash のループがセッションの終了ごとに Claude Code を再起動し、毎回新しい Docker コンテナを立てます。共有リポジトリは bare な git で、各 agent は自分の workspace に clone して、終わったら push します。
タスクの取り合いは lock ファイルで防ぎます。agent は current_tasks ディレクトリにテキストファイルを書いてタスクを確保し、2 つの agent が同じタスクを取ろうとしても、git の同期で 2 番目の agent が別のタスクを選び直すことになります。lock はファイル単位ではなくタスク単位で、同じファイルを複数の agent が触ることはあるので、merge conflict は起きます。
オーケストレーター agent がいないので、各 agent が「次に最も明らかな問題」を自分で選びます。merge conflict は頻繁に起きますが、Claude 自身が解消します。
この事例で必要だったのは、オーケストレーターではなく、取り合いを防ぐ仕組みとテストでした。人間のチーム運用とは別物ですが、「小さい単位で取り合いを避け、git で合流させる」という発想は、並行開発の考え方と通じるものがあります。
出典: https://www.anthropic.com/engineering/building-c-compiler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[3:45–5:00]
この事例で著者が最も力を入れたのは、コードではなくテストと環境でした。
1 つ目は検証者の質です。検証がほぼ完璧でないと、Claude は「間違った問題」を一生懸命解きます。2 つ目は Claude 向けに設計すること。出力は数行にして詳細はログファイルへ、エラーは ERROR と理由を同じ行に書いて grep で拾えるようにしました。コンテキストが汚れるのを避けるためです。3 つ目は、Claude は時間感覚が弱いこと。放っておくとテストを何時間も回すので、1% か 10% のランダムサンプルだけ走らせる --fast オプションを用意しました。
限界もあって、終盤は新機能が既存機能を壊し始めたため、CI を後から導入しています。
いまの Claude Code では、/batch や worktree、claude --cloud が、この考え方を製品として使える形にしたものです。
出典: https://www.anthropic.com/engineering/building-c-compiler / https://code.claude.com/docs/en/best-practices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[5:00–6:30]
2 つ目の判断は、作る agent と評価する agent を分けることです。公式の記事によると、agent は自分の成果物を評価させると、客観的には凡庸な出来でも自信満々に褒める傾向があります。これを「自己評価バイアス」と呼んでおきます。特にデザインのように、テストで白黒がつかない領域で目立ちます。
そこで planner、generator、evaluator に分けました。planner が 1〜4 文の指示を仕様に広げ、generator が sprint ごとに実装し、evaluator が Playwright MCP で実際に動いているアプリを操作して、基準ごとに採点します。sprint の前には、何をもって完了とするかを contract として合意させます。
注意点は、分離しただけで寛大さが消えるわけではないことです。evaluator も LLM なので、最初は問題を見つけても「まあ良いか」と自分を説得して承認してしまいました。ログを読み、懐疑的になるよう prompt を調整する作業が必要でした。
出典: https://www.anthropic.com/engineering/harness-design-long-running-apps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[6:30–7:45]
効果と費用の数字です。「2D のレトロゲームメーカー」という同じ 1 文の指示で、単独 agent は 20 分、9 ドル。画面は出ますが、エンティティが表示されるだけで入力に反応せず、ゲームとして動きませんでした。planner、generator、evaluator を使った harness は 6 時間、200 ドルで、20 倍以上のコストです。それでも品質の差は一目瞭然だった、と書かれています。
もう一つ大事な教訓があります。harness の各部品は「モデルが単独ではできないこと」についての仮説だということです。モデルが進化すれば、その仮説は古くなります。実際、Opus 4.6 が出たあとは sprint の構造を外し、planner と evaluator は残しました。
皆さんが agent の仕組みを作るときも、定期的に「この部品は本当にまだ必要か」を問い直すのが良いと思います。
(数字は Opus 4.5 でのものです。)
出典: https://www.anthropic.com/engineering/harness-design-long-running-apps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[7:45–9:15]
ここから、今日の主役の /goal です。最初の事例を思い出してください。C コンパイラの harness は、while true の無限ループでした。終わりがなく、完了を判定する審判もいません。Claude が誤って自分のプロセスを kill してしまい、ループが止まった、という話も書かれていました。
/goal は、このループに「終点」と「審判」を付けたもの、と考えると分かりやすいです。完了条件を 1 つ書くと、Claude はその条件が満たされるまで、プロンプトなしで作業を続けます。ターンが終わるたびに、別の小さなモデルが「条件は満たされたか」を判定します。未達なら、その理由を指針に次のターンが始まります。達成か、不可能と判断された場合に、ゴールが解除されます。
公式は、完了を決めるのは作業しているモデルではなく、新しいモデルだと書いています。これは、さきほどの「作る人と採点する人を分ける」という考え方そのものです。1 つの session に 1 つの goal で、その session 限定です。claude -p に /goal を渡せば、無人でも最後まで動きます。
出典: https://code.claude.com/docs/en/goal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[9:15–11:00]
次に、審判の仕組みで大事な点です。スポーツにたとえると、Claude は選手、会話はスコアボード、審判は見るだけの人です。審判は、条件とここまでの会話を受け取って判定します。コマンドは実行せず、ファイルも自分では読みません。つまり、選手がスコアボードに出した内容だけで判断します。
だから「テストが全部通る」は良い条件です。Claude が実際にテストを走らせ、その結果がスコアボードに出るので、審判が読めます。逆に「コードが良くなった」は、証拠が出ないので判定できません。これは最初の原則、「チェックが甘いと、成果もそこまで」の、/goal での現れ方です。
ただし弱点もあります。審判は会話に書かれたことを信じるので、Claude が実行せずに「通りました」と言うだけだと、見抜けないことがあります。だから条件に、「実行して、出力を示す」と書きます。
評価には小さな高速モデルを使い、費用は通常のターンに比べて小さい、と公式は書いています。実体は、session 限定の prompt 型 Stop hook です。自分で書けば、スクリプトで決定論的に判定することもできます。この点は、あとの hook の話につながります。
出典: https://code.claude.com/docs/en/goal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[11:00–12:15]
では、良い条件はどう書くか。役割で 3 つに整理します。1 つ目は成功条件で、何をもって完了かを、測れる終点と確認方法で書きます。「npm test が exit 0 で終わる」のようにです。ここが曖昧だと、審判が判定できません。2 つ目は制約で、完了までに触ってはいけないものです。「他のテストファイルは変更しない」と書かないと、テストを消して通すような抜け道が通ってしまいます。3 つ目は上限で、「または 20 ターンで停止」のように書きます。ないと、達成できないときに token を使い続けます。公式も、上限を条件に書くことを勧めています。条件は 4,000 文字まで書けます。
スライドの例で言うと、悪い例は「認証まわりを良くして」で、審判には判定できません。良い例は、範囲、確認方法、制約、ターンの上限まで書いたものです。
出典: https://code.claude.com/docs/en/goal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[12:15–13:15]
3 つのうち、順番は成功条件、制約、上限です。成功条件は土台で、なければ審判は感覚で判定するしかありません。制約は柵です。成功条件だけだと、Claude がテストを削除して exit 0 にしても、条件は満たされます。価値はありませんが、通ってしまう。それを防ぐのが制約です。上限は安全網で、品質は決めず、損失の上限を決めます。無人で回すときは、止める人がいないので、制約と同じくらい大事です。上限も審判が会話から読むので、Claude が毎ターン進捗を報告します。最後に、本当に厳しくするなら、審判任せにせず、テストや lint、build のような実行できる検査を条件に入れてください。
出典: https://code.claude.com/docs/en/goal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[13:15–14:30]
では、どんな場面でどちらを使うか。/goal は「終わる作業」、/loop は「見続ける作業」です。/goal は、テストが全部通る、旧 API からの移行が完了する、型エラーが 0 になる、といった終点のある作業に使います。/loop は、デプロイの状況を 5 分ごとに確認する、PR に新しいコメントが付いたか見る、といった、時間とともに状況が変わるものを見続ける作業です。ポーリング、つまり一定間隔で状態を確認し続けることに近い使い方です。
決定的な違いは 2 つあります。1 つ目は、次をいつ始めるか。/goal は条件が未達のときに続き、/loop は時間が来たときに始まります。2 つ目は審判の有無。/goal には完了を判定する審判がいて、/loop には完了の判定がなく、同じことを繰り返すだけです。また /loop は、7 日で期限切れになります。
出典: https://code.claude.com/docs/en/goal / https://code.claude.com/docs/en/scheduled-tasks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[14:30–14:45]
ここまでの /goal を、1 枚にまとめました。/goal は、モデルの考え方を変えるのではなく、終わりを決める仕組みです。あとで見返してください。
出典: https://code.claude.com/docs/en/goal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[14:45–16:15]
ここからは hook と mods の話です。さきほどの /goal は hook でできていました。その hook の先を、自分で作れるのが mods です。10 月 1 日に公開されたばかりで、Claude Code 2.1.287 以降が必要です。mod は plugin に入れる JavaScript か TypeScript のモジュールで、セッション中ずっと常駐し、状態を持てます。
できることは 3 つです。観察、つまり tool 呼び出しやプロンプト送信、ターンの開始と終了を見ること。書き換え、たとえば危険なコマンドを安全な形に差し替えて次へ渡すこと。そして応答、つまり deny で拒否したり、自前の結果を返したりすることです。
UI も描けます。status line や pane、toast、プロンプトの上の band などです。公式は、AGENTS.md 対応と /diff パネルが mod として作られていると書いています。ソースは anthropics/claude-code リポジトリの mods ディレクトリにあります。
出典: https://claude.dev/blog/getting-started-with-claude-code-mods/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[16:15–18:15]
ここで 1 つ整理したい区別があります。CLAUDE.md は助言、hook は決定論です。たとえば CLAUDE.md に「コミット前に lint を実行して」と書くと、モデルが読んで従いますが、守られないことがあります。一方、多くのプロジェクトにある husky の pre-commit hook は、コミットのたびに lint と型チェックを自動で実行し、失敗すれば commit できません。モデルがどう考えていても、毎回必ず走ります。これが決定論です。図のとおり、左の貼り紙は、読むかどうかが相手次第で、すり抜けることがあります。右の鍵は、モデルがどう考えていても通れません。
使い分けの目安は、「守られないと困るもの」は決定論の側に置くことです。ただし pre-commit は git commit の --no-verify で飛ばせてしまうので、本当の最終防衛は CI で同じチェックをもう一度かけることです。Claude の hook や mod は、公式の例で言えば rm -rf や force push のような危険なコマンドを実行前に止める、agent 向けの補強と位置づけると整理しやすいと思います。
最後に注意です。mod は Claude Code と同じ権限であなたのマシン上で動き、書いたのは Anthropic ではなく発行元です。パッケージと同じ扱いで、ソースを読んでから、信頼できる人のものだけを入れてください。
出典: https://claude.dev/blog/getting-started-with-claude-code-mods/ / https://code.claude.com/docs/en/best-practices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[18:15–19:30]
最後に防御の話です。Claude Code の利用者は、権限の確認の約 93% を許可していました。確認が多すぎて、実質的に見ていない。これが確認疲れです。そこで公式はまず OS レベルの sandbox を入れました。書き込みはワークスペース内だけ、ネットワークは既定で拒否です。これで確認が 84% 減っています。
そのうえで auto mode という分類器を重ねました。2 段階で、高速なフィルタが疑わしいものだけを推論に回します。誤検知は 8.5% から 0.4% に下がります。ここで正直な数字を見てください。実際の過剰行動の見逃し率は 6.6% から 17% に上がります。公式自身がこれを「正直な数字」と書いていて、丁寧に人間が確認している場合の代わりにはならない、とも述べています。
つまり、確実なのは環境の層で、モデルの層は多層防御の 1 枚です。もう 1 つ、公式の教訓として、最も弱いのは自分で作った層だと書かれています。
出典: https://www.anthropic.com/engineering/claude-code-auto-mode / https://www.anthropic.com/engineering/how-we-contain-claude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[19:30–30:00]
まとめです。持ち帰る原則は 3 つ。1、チェックが甘いと、成果もそこまで。2、評価は独立させる。3、大事なルールは、貼り紙ではなく鍵で守る。/goal は、最初の 2 つがそのまま入った機能でした。
ここから先は議論の時間です。質問を募る前に、私から先に問いを出します。「評価者を独立させるとき、皆さんならモデル、文脈、基準のどれを独立させますか。」もう 1 つ、「/goal に書くなら、皆さんの現場で『測れる終点』は何ですか。」話しにくければ Meet のチャットに書いてください。
沈黙が続いたら、まず私の考えを 1 分ほど話して口火を切ります。
(社内の個別の課題との対応づけは、聴衆の発言に任せる。把握できていない点は無理に断定しない。)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768096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114800"/>
            <a:ext cx="76809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73736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ja-JP" altLang="en-US" sz="40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/goal に学ぶ</a:t>
            </a:r>
            <a:endParaRPr lang="ja-JP" sz="4000" dirty="0"/>
          </a:p>
          <a:p>
            <a:pPr algn="l" indent="0" marL="0">
              <a:buNone/>
            </a:pPr>
            <a:r>
              <a:rPr lang="ja-JP" altLang="en-US" sz="40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agent 設計の判断</a:t>
            </a:r>
            <a:endParaRPr lang="ja-JP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41148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ja-JP" altLang="en-US" sz="2000" dirty="0">
                <a:solidFill>
                  <a:schemeClr val="bg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ループに「終点」と「審判」を付ける</a:t>
            </a:r>
            <a:endParaRPr lang="ja-JP" sz="2000" dirty="0"/>
          </a:p>
        </p:txBody>
      </p:sp>
      <p:sp>
        <p:nvSpPr>
          <p:cNvPr id="5" name="text-1"/>
          <p:cNvSpPr txBox="1"/>
          <p:nvPr/>
        </p:nvSpPr>
        <p:spPr>
          <a:xfrm>
            <a:off x="73152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bg2">
                    <a:alpha val="80000"/>
                  </a:scheme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技術交流会 ｜ 2026 年 10 月 15 日</a:t>
            </a:r>
            <a:endParaRPr lang="ja-JP" sz="1400" dirty="0"/>
          </a:p>
        </p:txBody>
      </p:sp>
      <p:sp>
        <p:nvSpPr>
          <p:cNvPr id="6" name="agent-dot-2"/>
          <p:cNvSpPr/>
          <p:nvPr/>
        </p:nvSpPr>
        <p:spPr>
          <a:xfrm>
            <a:off x="8732520" y="2011680"/>
            <a:ext cx="566928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/>
        </p:spPr>
      </p:sp>
      <p:sp>
        <p:nvSpPr>
          <p:cNvPr id="7" name="agent-dot-4"/>
          <p:cNvSpPr/>
          <p:nvPr/>
        </p:nvSpPr>
        <p:spPr>
          <a:xfrm>
            <a:off x="9482328" y="2011680"/>
            <a:ext cx="566928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/>
        </p:spPr>
      </p:sp>
      <p:sp>
        <p:nvSpPr>
          <p:cNvPr id="8" name="agent-dot-6"/>
          <p:cNvSpPr/>
          <p:nvPr/>
        </p:nvSpPr>
        <p:spPr>
          <a:xfrm>
            <a:off x="10232136" y="2011680"/>
            <a:ext cx="566928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/>
        </p:spPr>
      </p:sp>
      <p:sp>
        <p:nvSpPr>
          <p:cNvPr id="9" name="agent-dot-8"/>
          <p:cNvSpPr/>
          <p:nvPr/>
        </p:nvSpPr>
        <p:spPr>
          <a:xfrm>
            <a:off x="10981944" y="2011680"/>
            <a:ext cx="566928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/>
        </p:spPr>
      </p:sp>
      <p:sp>
        <p:nvSpPr>
          <p:cNvPr id="10" name="agent-dot-10"/>
          <p:cNvSpPr/>
          <p:nvPr/>
        </p:nvSpPr>
        <p:spPr>
          <a:xfrm>
            <a:off x="8732520" y="2761488"/>
            <a:ext cx="566928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/>
        </p:spPr>
      </p:sp>
      <p:sp>
        <p:nvSpPr>
          <p:cNvPr id="11" name="agent-dot-12"/>
          <p:cNvSpPr/>
          <p:nvPr/>
        </p:nvSpPr>
        <p:spPr>
          <a:xfrm>
            <a:off x="9482328" y="2761488"/>
            <a:ext cx="566928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/>
        </p:spPr>
      </p:sp>
      <p:sp>
        <p:nvSpPr>
          <p:cNvPr id="12" name="agent-dot-14"/>
          <p:cNvSpPr/>
          <p:nvPr/>
        </p:nvSpPr>
        <p:spPr>
          <a:xfrm>
            <a:off x="10232136" y="2761488"/>
            <a:ext cx="566928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/>
        </p:spPr>
      </p:sp>
      <p:sp>
        <p:nvSpPr>
          <p:cNvPr id="13" name="agent-dot-16"/>
          <p:cNvSpPr/>
          <p:nvPr/>
        </p:nvSpPr>
        <p:spPr>
          <a:xfrm>
            <a:off x="10981944" y="2761488"/>
            <a:ext cx="566928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/>
        </p:spPr>
      </p:sp>
      <p:sp>
        <p:nvSpPr>
          <p:cNvPr id="14" name="agent-dot-18"/>
          <p:cNvSpPr/>
          <p:nvPr/>
        </p:nvSpPr>
        <p:spPr>
          <a:xfrm>
            <a:off x="8732520" y="3511296"/>
            <a:ext cx="566928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/>
        </p:spPr>
      </p:sp>
      <p:sp>
        <p:nvSpPr>
          <p:cNvPr id="15" name="agent-dot-20"/>
          <p:cNvSpPr/>
          <p:nvPr/>
        </p:nvSpPr>
        <p:spPr>
          <a:xfrm>
            <a:off x="9482328" y="3511296"/>
            <a:ext cx="566928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/>
        </p:spPr>
      </p:sp>
      <p:sp>
        <p:nvSpPr>
          <p:cNvPr id="16" name="agent-dot-22"/>
          <p:cNvSpPr/>
          <p:nvPr/>
        </p:nvSpPr>
        <p:spPr>
          <a:xfrm>
            <a:off x="10232136" y="3511296"/>
            <a:ext cx="566928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/>
        </p:spPr>
      </p:sp>
      <p:sp>
        <p:nvSpPr>
          <p:cNvPr id="17" name="agent-dot-24"/>
          <p:cNvSpPr/>
          <p:nvPr/>
        </p:nvSpPr>
        <p:spPr>
          <a:xfrm>
            <a:off x="10981944" y="3511296"/>
            <a:ext cx="566928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/>
        </p:spPr>
      </p:sp>
      <p:sp>
        <p:nvSpPr>
          <p:cNvPr id="18" name="agent-dot-26"/>
          <p:cNvSpPr/>
          <p:nvPr/>
        </p:nvSpPr>
        <p:spPr>
          <a:xfrm>
            <a:off x="8732520" y="4261104"/>
            <a:ext cx="566928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/>
        </p:spPr>
      </p:sp>
      <p:sp>
        <p:nvSpPr>
          <p:cNvPr id="19" name="agent-dot-28"/>
          <p:cNvSpPr/>
          <p:nvPr/>
        </p:nvSpPr>
        <p:spPr>
          <a:xfrm>
            <a:off x="9482328" y="4261104"/>
            <a:ext cx="566928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/>
        </p:spPr>
      </p:sp>
      <p:sp>
        <p:nvSpPr>
          <p:cNvPr id="20" name="agent-dot-30"/>
          <p:cNvSpPr/>
          <p:nvPr/>
        </p:nvSpPr>
        <p:spPr>
          <a:xfrm>
            <a:off x="10232136" y="4261104"/>
            <a:ext cx="566928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/>
        </p:spPr>
      </p:sp>
      <p:sp>
        <p:nvSpPr>
          <p:cNvPr id="21" name="agent-dot-32"/>
          <p:cNvSpPr/>
          <p:nvPr/>
        </p:nvSpPr>
        <p:spPr>
          <a:xfrm>
            <a:off x="10981944" y="4261104"/>
            <a:ext cx="566928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ll-34"/>
          <p:cNvSpPr/>
          <p:nvPr/>
        </p:nvSpPr>
        <p:spPr>
          <a:xfrm>
            <a:off x="548640" y="365760"/>
            <a:ext cx="804672" cy="310896"/>
          </a:xfrm>
          <a:prstGeom prst="roundRect">
            <a:avLst>
              <a:gd name="adj" fmla="val 4705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導入</a:t>
            </a:r>
            <a:endParaRPr lang="ja-JP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4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 個の Claude が C コンパイラを作った</a:t>
            </a:r>
            <a:endParaRPr lang="ja-JP" sz="3400" dirty="0"/>
          </a:p>
        </p:txBody>
      </p:sp>
      <p:sp>
        <p:nvSpPr>
          <p:cNvPr id="5" name="card-35"/>
          <p:cNvSpPr/>
          <p:nvPr/>
        </p:nvSpPr>
        <p:spPr>
          <a:xfrm>
            <a:off x="548640" y="1874520"/>
            <a:ext cx="2606040" cy="224028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/>
        </p:spPr>
      </p:sp>
      <p:sp>
        <p:nvSpPr>
          <p:cNvPr id="6" name="text-36"/>
          <p:cNvSpPr txBox="1"/>
          <p:nvPr/>
        </p:nvSpPr>
        <p:spPr>
          <a:xfrm>
            <a:off x="731520" y="21488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40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ja-JP" sz="4000" dirty="0"/>
          </a:p>
        </p:txBody>
      </p:sp>
      <p:sp>
        <p:nvSpPr>
          <p:cNvPr id="7" name="text-37"/>
          <p:cNvSpPr txBox="1"/>
          <p:nvPr/>
        </p:nvSpPr>
        <p:spPr>
          <a:xfrm>
            <a:off x="731520" y="32004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6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並列に動いた agent</a:t>
            </a:r>
            <a:endParaRPr lang="ja-JP" sz="1600" dirty="0"/>
          </a:p>
        </p:txBody>
      </p:sp>
      <p:sp>
        <p:nvSpPr>
          <p:cNvPr id="8" name="card-38"/>
          <p:cNvSpPr/>
          <p:nvPr/>
        </p:nvSpPr>
        <p:spPr>
          <a:xfrm>
            <a:off x="3378098" y="1874520"/>
            <a:ext cx="2606040" cy="224028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/>
        </p:spPr>
      </p:sp>
      <p:sp>
        <p:nvSpPr>
          <p:cNvPr id="9" name="text-39"/>
          <p:cNvSpPr txBox="1"/>
          <p:nvPr/>
        </p:nvSpPr>
        <p:spPr>
          <a:xfrm>
            <a:off x="3560978" y="21488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40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 2,000</a:t>
            </a:r>
            <a:endParaRPr lang="ja-JP" sz="4000" dirty="0"/>
          </a:p>
        </p:txBody>
      </p:sp>
      <p:sp>
        <p:nvSpPr>
          <p:cNvPr id="10" name="text-40"/>
          <p:cNvSpPr txBox="1"/>
          <p:nvPr/>
        </p:nvSpPr>
        <p:spPr>
          <a:xfrm>
            <a:off x="3560978" y="32004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6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Code</a:t>
            </a:r>
            <a:endParaRPr lang="ja-JP" sz="1600" dirty="0"/>
          </a:p>
          <a:p>
            <a:pPr indent="0" marL="0">
              <a:buNone/>
            </a:pPr>
            <a:r>
              <a:rPr lang="ja-JP" altLang="en-US" sz="16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セッション</a:t>
            </a:r>
            <a:endParaRPr lang="ja-JP" sz="1600" dirty="0"/>
          </a:p>
        </p:txBody>
      </p:sp>
      <p:sp>
        <p:nvSpPr>
          <p:cNvPr id="11" name="card-41"/>
          <p:cNvSpPr/>
          <p:nvPr/>
        </p:nvSpPr>
        <p:spPr>
          <a:xfrm>
            <a:off x="6207557" y="1874520"/>
            <a:ext cx="2606040" cy="224028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/>
        </p:spPr>
      </p:sp>
      <p:sp>
        <p:nvSpPr>
          <p:cNvPr id="12" name="text-42"/>
          <p:cNvSpPr txBox="1"/>
          <p:nvPr/>
        </p:nvSpPr>
        <p:spPr>
          <a:xfrm>
            <a:off x="6390437" y="21488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40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 $2 万</a:t>
            </a:r>
            <a:endParaRPr lang="ja-JP" sz="4000" dirty="0"/>
          </a:p>
        </p:txBody>
      </p:sp>
      <p:sp>
        <p:nvSpPr>
          <p:cNvPr id="13" name="text-43"/>
          <p:cNvSpPr txBox="1"/>
          <p:nvPr/>
        </p:nvSpPr>
        <p:spPr>
          <a:xfrm>
            <a:off x="6390437" y="32004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6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API コスト(約 2 週間)</a:t>
            </a:r>
            <a:endParaRPr lang="ja-JP" sz="1600" dirty="0"/>
          </a:p>
        </p:txBody>
      </p:sp>
      <p:sp>
        <p:nvSpPr>
          <p:cNvPr id="14" name="card-44"/>
          <p:cNvSpPr/>
          <p:nvPr/>
        </p:nvSpPr>
        <p:spPr>
          <a:xfrm>
            <a:off x="9037015" y="1874520"/>
            <a:ext cx="2606040" cy="224028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/>
        </p:spPr>
      </p:sp>
      <p:sp>
        <p:nvSpPr>
          <p:cNvPr id="15" name="text-45"/>
          <p:cNvSpPr txBox="1"/>
          <p:nvPr/>
        </p:nvSpPr>
        <p:spPr>
          <a:xfrm>
            <a:off x="9219895" y="21488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40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万行</a:t>
            </a:r>
            <a:endParaRPr lang="ja-JP" sz="4000" dirty="0"/>
          </a:p>
        </p:txBody>
      </p:sp>
      <p:sp>
        <p:nvSpPr>
          <p:cNvPr id="16" name="text-46"/>
          <p:cNvSpPr txBox="1"/>
          <p:nvPr/>
        </p:nvSpPr>
        <p:spPr>
          <a:xfrm>
            <a:off x="9219895" y="32004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6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Rust で書いた</a:t>
            </a:r>
            <a:endParaRPr lang="ja-JP" sz="1600" dirty="0"/>
          </a:p>
          <a:p>
            <a:pPr indent="0" marL="0">
              <a:buNone/>
            </a:pPr>
            <a:r>
              <a:rPr lang="ja-JP" altLang="en-US" sz="16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コードの行数</a:t>
            </a:r>
            <a:endParaRPr lang="ja-JP" sz="1600" dirty="0"/>
          </a:p>
        </p:txBody>
      </p:sp>
      <p:sp>
        <p:nvSpPr>
          <p:cNvPr id="17" name="card-47"/>
          <p:cNvSpPr/>
          <p:nvPr/>
        </p:nvSpPr>
        <p:spPr>
          <a:xfrm>
            <a:off x="548640" y="4389120"/>
            <a:ext cx="11094415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/>
        </p:spPr>
      </p:sp>
      <p:sp>
        <p:nvSpPr>
          <p:cNvPr id="18" name="text-48"/>
          <p:cNvSpPr txBox="1"/>
          <p:nvPr/>
        </p:nvSpPr>
        <p:spPr>
          <a:xfrm>
            <a:off x="868680" y="4389120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0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Linux 6.9 を x86・ARM・RISC-V でビルド ｜ 主要テストスイートの 99% を通過</a:t>
            </a:r>
            <a:endParaRPr lang="ja-JP" sz="2000" dirty="0"/>
          </a:p>
        </p:txBody>
      </p:sp>
      <p:sp>
        <p:nvSpPr>
          <p:cNvPr id="19" name="text-49"/>
          <p:cNvSpPr txBox="1"/>
          <p:nvPr/>
        </p:nvSpPr>
        <p:spPr>
          <a:xfrm>
            <a:off x="548640" y="548640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止まらないループに、「終点」と「審判」を付けるには?</a:t>
            </a:r>
            <a:endParaRPr lang="ja-JP" sz="2800" dirty="0"/>
          </a:p>
        </p:txBody>
      </p:sp>
      <p:sp>
        <p:nvSpPr>
          <p:cNvPr id="20" name="text-50"/>
          <p:cNvSpPr txBox="1"/>
          <p:nvPr/>
        </p:nvSpPr>
        <p:spPr>
          <a:xfrm>
            <a:off x="548640" y="63550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00" dirty="0">
                <a:solidFill>
                  <a:schemeClr val="bg2">
                    <a:alpha val="75000"/>
                  </a:scheme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Anthropic Engineering「Building a C compiler with a team of parallel Claudes」(2026/02)・使用モデルは Opus 4.6</a:t>
            </a:r>
            <a:endParaRPr lang="ja-JP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ll-51"/>
          <p:cNvSpPr/>
          <p:nvPr/>
        </p:nvSpPr>
        <p:spPr>
          <a:xfrm>
            <a:off x="548640" y="365760"/>
            <a:ext cx="2194560" cy="310896"/>
          </a:xfrm>
          <a:prstGeom prst="roundRect">
            <a:avLst>
              <a:gd name="adj" fmla="val 4705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並列 agent</a:t>
            </a:r>
            <a:endParaRPr lang="ja-JP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4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並列化にオーケストレーターは不要だった</a:t>
            </a:r>
            <a:endParaRPr lang="ja-JP" sz="3400" dirty="0"/>
          </a:p>
        </p:txBody>
      </p:sp>
      <p:sp>
        <p:nvSpPr>
          <p:cNvPr id="5" name="card-52"/>
          <p:cNvSpPr/>
          <p:nvPr/>
        </p:nvSpPr>
        <p:spPr>
          <a:xfrm>
            <a:off x="548640" y="1920240"/>
            <a:ext cx="19659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6" name="badge-53"/>
          <p:cNvSpPr/>
          <p:nvPr/>
        </p:nvSpPr>
        <p:spPr>
          <a:xfrm>
            <a:off x="685800" y="20574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-54"/>
          <p:cNvSpPr txBox="1"/>
          <p:nvPr/>
        </p:nvSpPr>
        <p:spPr>
          <a:xfrm>
            <a:off x="685800" y="25420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7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bash ループ</a:t>
            </a:r>
            <a:endParaRPr lang="ja-JP" sz="1700" dirty="0"/>
          </a:p>
        </p:txBody>
      </p:sp>
      <p:sp>
        <p:nvSpPr>
          <p:cNvPr id="8" name="text-55"/>
          <p:cNvSpPr txBox="1"/>
          <p:nvPr/>
        </p:nvSpPr>
        <p:spPr>
          <a:xfrm>
            <a:off x="685800" y="2926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accent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終了で再起動</a:t>
            </a:r>
            <a:endParaRPr lang="ja-JP" sz="1400" dirty="0"/>
          </a:p>
        </p:txBody>
      </p:sp>
      <p:sp>
        <p:nvSpPr>
          <p:cNvPr id="9" name="arrow-56"/>
          <p:cNvSpPr/>
          <p:nvPr/>
        </p:nvSpPr>
        <p:spPr>
          <a:xfrm>
            <a:off x="2551176" y="2578608"/>
            <a:ext cx="237744" cy="27432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10" name="card-57"/>
          <p:cNvSpPr/>
          <p:nvPr/>
        </p:nvSpPr>
        <p:spPr>
          <a:xfrm>
            <a:off x="2830754" y="1920240"/>
            <a:ext cx="19659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1" name="badge-58"/>
          <p:cNvSpPr/>
          <p:nvPr/>
        </p:nvSpPr>
        <p:spPr>
          <a:xfrm>
            <a:off x="2967914" y="20574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-59"/>
          <p:cNvSpPr txBox="1"/>
          <p:nvPr/>
        </p:nvSpPr>
        <p:spPr>
          <a:xfrm>
            <a:off x="2967914" y="25420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7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 Docker</a:t>
            </a:r>
            <a:endParaRPr lang="ja-JP" sz="1700" dirty="0"/>
          </a:p>
        </p:txBody>
      </p:sp>
      <p:sp>
        <p:nvSpPr>
          <p:cNvPr id="13" name="text-60"/>
          <p:cNvSpPr txBox="1"/>
          <p:nvPr/>
        </p:nvSpPr>
        <p:spPr>
          <a:xfrm>
            <a:off x="2967914" y="2926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accent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毎回まっさら</a:t>
            </a:r>
            <a:endParaRPr lang="ja-JP" sz="1400" dirty="0"/>
          </a:p>
        </p:txBody>
      </p:sp>
      <p:sp>
        <p:nvSpPr>
          <p:cNvPr id="14" name="arrow-61"/>
          <p:cNvSpPr/>
          <p:nvPr/>
        </p:nvSpPr>
        <p:spPr>
          <a:xfrm>
            <a:off x="4833290" y="2578608"/>
            <a:ext cx="237744" cy="27432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15" name="card-62"/>
          <p:cNvSpPr/>
          <p:nvPr/>
        </p:nvSpPr>
        <p:spPr>
          <a:xfrm>
            <a:off x="5112868" y="1920240"/>
            <a:ext cx="19659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6" name="badge-63"/>
          <p:cNvSpPr/>
          <p:nvPr/>
        </p:nvSpPr>
        <p:spPr>
          <a:xfrm>
            <a:off x="5250028" y="20574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-64"/>
          <p:cNvSpPr txBox="1"/>
          <p:nvPr/>
        </p:nvSpPr>
        <p:spPr>
          <a:xfrm>
            <a:off x="5250028" y="25420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7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 clone</a:t>
            </a:r>
            <a:endParaRPr lang="ja-JP" sz="1700" dirty="0"/>
          </a:p>
        </p:txBody>
      </p:sp>
      <p:sp>
        <p:nvSpPr>
          <p:cNvPr id="18" name="text-65"/>
          <p:cNvSpPr txBox="1"/>
          <p:nvPr/>
        </p:nvSpPr>
        <p:spPr>
          <a:xfrm>
            <a:off x="5250028" y="2926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accent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/upstream から取得</a:t>
            </a:r>
            <a:endParaRPr lang="ja-JP" sz="1400" dirty="0"/>
          </a:p>
        </p:txBody>
      </p:sp>
      <p:sp>
        <p:nvSpPr>
          <p:cNvPr id="19" name="arrow-66"/>
          <p:cNvSpPr/>
          <p:nvPr/>
        </p:nvSpPr>
        <p:spPr>
          <a:xfrm>
            <a:off x="7115404" y="2578608"/>
            <a:ext cx="237744" cy="27432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20" name="card-67"/>
          <p:cNvSpPr/>
          <p:nvPr/>
        </p:nvSpPr>
        <p:spPr>
          <a:xfrm>
            <a:off x="7394981" y="1920240"/>
            <a:ext cx="19659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21" name="badge-68"/>
          <p:cNvSpPr/>
          <p:nvPr/>
        </p:nvSpPr>
        <p:spPr>
          <a:xfrm>
            <a:off x="7532141" y="20574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-69"/>
          <p:cNvSpPr txBox="1"/>
          <p:nvPr/>
        </p:nvSpPr>
        <p:spPr>
          <a:xfrm>
            <a:off x="7532141" y="25420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7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lock を取る</a:t>
            </a:r>
            <a:endParaRPr lang="ja-JP" sz="1700" dirty="0"/>
          </a:p>
        </p:txBody>
      </p:sp>
      <p:sp>
        <p:nvSpPr>
          <p:cNvPr id="23" name="text-70"/>
          <p:cNvSpPr txBox="1"/>
          <p:nvPr/>
        </p:nvSpPr>
        <p:spPr>
          <a:xfrm>
            <a:off x="7532141" y="2926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accent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current_tasks/</a:t>
            </a:r>
            <a:endParaRPr lang="ja-JP" sz="14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accent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に記載</a:t>
            </a:r>
            <a:endParaRPr lang="ja-JP" sz="1400" dirty="0"/>
          </a:p>
        </p:txBody>
      </p:sp>
      <p:sp>
        <p:nvSpPr>
          <p:cNvPr id="24" name="arrow-71"/>
          <p:cNvSpPr/>
          <p:nvPr/>
        </p:nvSpPr>
        <p:spPr>
          <a:xfrm>
            <a:off x="9397517" y="2578608"/>
            <a:ext cx="237744" cy="27432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25" name="card-72"/>
          <p:cNvSpPr/>
          <p:nvPr/>
        </p:nvSpPr>
        <p:spPr>
          <a:xfrm>
            <a:off x="9677095" y="1920240"/>
            <a:ext cx="19659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26" name="badge-73"/>
          <p:cNvSpPr/>
          <p:nvPr/>
        </p:nvSpPr>
        <p:spPr>
          <a:xfrm>
            <a:off x="9814255" y="20574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-74"/>
          <p:cNvSpPr txBox="1"/>
          <p:nvPr/>
        </p:nvSpPr>
        <p:spPr>
          <a:xfrm>
            <a:off x="9814255" y="25420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7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作業 → push</a:t>
            </a:r>
            <a:endParaRPr lang="ja-JP" sz="1700" dirty="0"/>
          </a:p>
        </p:txBody>
      </p:sp>
      <p:sp>
        <p:nvSpPr>
          <p:cNvPr id="28" name="text-75"/>
          <p:cNvSpPr txBox="1"/>
          <p:nvPr/>
        </p:nvSpPr>
        <p:spPr>
          <a:xfrm>
            <a:off x="9814255" y="2926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accent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merge して</a:t>
            </a:r>
            <a:endParaRPr lang="ja-JP" sz="14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accent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lock 解除</a:t>
            </a:r>
            <a:endParaRPr lang="ja-JP" sz="1400" dirty="0"/>
          </a:p>
        </p:txBody>
      </p:sp>
      <p:sp>
        <p:nvSpPr>
          <p:cNvPr id="29" name="loop-76"/>
          <p:cNvSpPr/>
          <p:nvPr/>
        </p:nvSpPr>
        <p:spPr>
          <a:xfrm>
            <a:off x="10660075" y="3520440"/>
            <a:ext cx="0" cy="32004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30" name="loop-77"/>
          <p:cNvSpPr/>
          <p:nvPr/>
        </p:nvSpPr>
        <p:spPr>
          <a:xfrm>
            <a:off x="1531620" y="3840480"/>
            <a:ext cx="9128455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</a:ln>
        </p:spPr>
      </p:sp>
      <p:sp>
        <p:nvSpPr>
          <p:cNvPr id="31" name="loop-78"/>
          <p:cNvSpPr/>
          <p:nvPr/>
        </p:nvSpPr>
        <p:spPr>
          <a:xfrm flipV="1">
            <a:off x="1531620" y="3520440"/>
            <a:ext cx="0" cy="32004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2" name="text-79"/>
          <p:cNvSpPr txBox="1"/>
          <p:nvPr/>
        </p:nvSpPr>
        <p:spPr>
          <a:xfrm>
            <a:off x="2628900" y="3913632"/>
            <a:ext cx="6933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400" dirty="0">
                <a:solidFill>
                  <a:schemeClr val="accent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セッションが終わるたび、新しいコンテナで繰り返す</a:t>
            </a:r>
            <a:endParaRPr lang="ja-JP" sz="1400" dirty="0"/>
          </a:p>
        </p:txBody>
      </p:sp>
      <p:sp>
        <p:nvSpPr>
          <p:cNvPr id="33" name="icon-bg-80"/>
          <p:cNvSpPr/>
          <p:nvPr/>
        </p:nvSpPr>
        <p:spPr>
          <a:xfrm>
            <a:off x="548640" y="443484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4" name="icon-8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117" y="4595317"/>
            <a:ext cx="273406" cy="273406"/>
          </a:xfrm>
          <a:prstGeom prst="rect">
            <a:avLst/>
          </a:prstGeom>
        </p:spPr>
      </p:pic>
      <p:sp>
        <p:nvSpPr>
          <p:cNvPr id="35" name="text-82"/>
          <p:cNvSpPr txBox="1"/>
          <p:nvPr/>
        </p:nvSpPr>
        <p:spPr>
          <a:xfrm>
            <a:off x="1325880" y="44165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オーケストレーター無し</a:t>
            </a:r>
            <a:endParaRPr lang="ja-JP" sz="1800" dirty="0"/>
          </a:p>
        </p:txBody>
      </p:sp>
      <p:sp>
        <p:nvSpPr>
          <p:cNvPr id="36" name="text-83"/>
          <p:cNvSpPr txBox="1"/>
          <p:nvPr/>
        </p:nvSpPr>
        <p:spPr>
          <a:xfrm>
            <a:off x="1325880" y="48463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agent が自分で</a:t>
            </a:r>
            <a:endParaRPr lang="ja-JP" sz="1500" dirty="0"/>
          </a:p>
          <a:p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「次に明らかな問題」を選ぶ</a:t>
            </a:r>
            <a:endParaRPr lang="ja-JP" sz="1500" dirty="0"/>
          </a:p>
        </p:txBody>
      </p:sp>
      <p:sp>
        <p:nvSpPr>
          <p:cNvPr id="37" name="icon-bg-84"/>
          <p:cNvSpPr/>
          <p:nvPr/>
        </p:nvSpPr>
        <p:spPr>
          <a:xfrm>
            <a:off x="4313225" y="44348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8" name="icon-8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3702" y="4595317"/>
            <a:ext cx="273406" cy="273406"/>
          </a:xfrm>
          <a:prstGeom prst="rect">
            <a:avLst/>
          </a:prstGeom>
        </p:spPr>
      </p:pic>
      <p:sp>
        <p:nvSpPr>
          <p:cNvPr id="39" name="text-86"/>
          <p:cNvSpPr txBox="1"/>
          <p:nvPr/>
        </p:nvSpPr>
        <p:spPr>
          <a:xfrm>
            <a:off x="5090465" y="44165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lock で重複を防ぐ</a:t>
            </a:r>
            <a:endParaRPr lang="ja-JP" sz="1800" dirty="0"/>
          </a:p>
        </p:txBody>
      </p:sp>
      <p:sp>
        <p:nvSpPr>
          <p:cNvPr id="40" name="text-87"/>
          <p:cNvSpPr txBox="1"/>
          <p:nvPr/>
        </p:nvSpPr>
        <p:spPr>
          <a:xfrm>
            <a:off x="5090465" y="48463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同じタスクを取ると、</a:t>
            </a:r>
            <a:endParaRPr lang="ja-JP" sz="1500" dirty="0"/>
          </a:p>
          <a:p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番目は別のタスクへ</a:t>
            </a:r>
            <a:endParaRPr lang="ja-JP" sz="1500" dirty="0"/>
          </a:p>
        </p:txBody>
      </p:sp>
      <p:sp>
        <p:nvSpPr>
          <p:cNvPr id="41" name="icon-bg-88"/>
          <p:cNvSpPr/>
          <p:nvPr/>
        </p:nvSpPr>
        <p:spPr>
          <a:xfrm>
            <a:off x="8077810" y="443484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2" name="icon-8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8287" y="4595317"/>
            <a:ext cx="273406" cy="273406"/>
          </a:xfrm>
          <a:prstGeom prst="rect">
            <a:avLst/>
          </a:prstGeom>
        </p:spPr>
      </p:pic>
      <p:sp>
        <p:nvSpPr>
          <p:cNvPr id="43" name="text-90"/>
          <p:cNvSpPr txBox="1"/>
          <p:nvPr/>
        </p:nvSpPr>
        <p:spPr>
          <a:xfrm>
            <a:off x="8855050" y="44165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merge conflict は頻発</a:t>
            </a:r>
            <a:endParaRPr lang="ja-JP" sz="1800" dirty="0"/>
          </a:p>
        </p:txBody>
      </p:sp>
      <p:sp>
        <p:nvSpPr>
          <p:cNvPr id="44" name="text-91"/>
          <p:cNvSpPr txBox="1"/>
          <p:nvPr/>
        </p:nvSpPr>
        <p:spPr>
          <a:xfrm>
            <a:off x="8855050" y="48463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でも Claude 自身が解消できる</a:t>
            </a:r>
            <a:endParaRPr lang="ja-JP" sz="1500" dirty="0"/>
          </a:p>
        </p:txBody>
      </p:sp>
      <p:sp>
        <p:nvSpPr>
          <p:cNvPr id="45" name="card-92"/>
          <p:cNvSpPr/>
          <p:nvPr/>
        </p:nvSpPr>
        <p:spPr>
          <a:xfrm>
            <a:off x="548640" y="5742432"/>
            <a:ext cx="11094415" cy="530352"/>
          </a:xfrm>
          <a:prstGeom prst="roundRect">
            <a:avLst>
              <a:gd name="adj" fmla="val 20690"/>
            </a:avLst>
          </a:prstGeom>
          <a:solidFill>
            <a:schemeClr val="accent1"/>
          </a:solidFill>
          <a:ln/>
        </p:spPr>
      </p:sp>
      <p:sp>
        <p:nvSpPr>
          <p:cNvPr id="46" name="text-93"/>
          <p:cNvSpPr txBox="1"/>
          <p:nvPr/>
        </p:nvSpPr>
        <p:spPr>
          <a:xfrm>
            <a:off x="868680" y="5742432"/>
            <a:ext cx="104543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0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必要だったのは、オーケストレーターではなく「取り合いを防ぐ仕組み」とテスト</a:t>
            </a:r>
            <a:endParaRPr lang="ja-JP" sz="2000" dirty="0"/>
          </a:p>
        </p:txBody>
      </p:sp>
      <p:sp>
        <p:nvSpPr>
          <p:cNvPr id="47" name="text-94"/>
          <p:cNvSpPr txBox="1"/>
          <p:nvPr/>
        </p:nvSpPr>
        <p:spPr>
          <a:xfrm>
            <a:off x="548640" y="63550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00" dirty="0">
                <a:solidFill>
                  <a:schemeClr val="accent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Anthropic Engineering「Building a C compiler with a team of parallel Claudes」(2026/02)</a:t>
            </a:r>
            <a:endParaRPr lang="ja-JP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ll-95"/>
          <p:cNvSpPr/>
          <p:nvPr/>
        </p:nvSpPr>
        <p:spPr>
          <a:xfrm>
            <a:off x="548640" y="365760"/>
            <a:ext cx="2194560" cy="310896"/>
          </a:xfrm>
          <a:prstGeom prst="roundRect">
            <a:avLst>
              <a:gd name="adj" fmla="val 4705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並列 agent</a:t>
            </a:r>
            <a:endParaRPr lang="ja-JP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4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テストが舵 — 検証者が上限を決める</a:t>
            </a:r>
            <a:endParaRPr lang="ja-JP" sz="3400" dirty="0"/>
          </a:p>
        </p:txBody>
      </p:sp>
      <p:sp>
        <p:nvSpPr>
          <p:cNvPr id="5" name="card-96"/>
          <p:cNvSpPr/>
          <p:nvPr/>
        </p:nvSpPr>
        <p:spPr>
          <a:xfrm>
            <a:off x="548640" y="1874520"/>
            <a:ext cx="356616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6" name="icon-bg-97"/>
          <p:cNvSpPr/>
          <p:nvPr/>
        </p:nvSpPr>
        <p:spPr>
          <a:xfrm>
            <a:off x="822960" y="21488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-9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2321662"/>
            <a:ext cx="294437" cy="294437"/>
          </a:xfrm>
          <a:prstGeom prst="rect">
            <a:avLst/>
          </a:prstGeom>
        </p:spPr>
      </p:pic>
      <p:sp>
        <p:nvSpPr>
          <p:cNvPr id="8" name="text-99"/>
          <p:cNvSpPr txBox="1"/>
          <p:nvPr/>
        </p:nvSpPr>
        <p:spPr>
          <a:xfrm>
            <a:off x="822960" y="3017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0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検証者はほぼ完璧に</a:t>
            </a:r>
            <a:endParaRPr lang="ja-JP" sz="2000" dirty="0"/>
          </a:p>
        </p:txBody>
      </p:sp>
      <p:sp>
        <p:nvSpPr>
          <p:cNvPr id="9" name="text-100"/>
          <p:cNvSpPr txBox="1"/>
          <p:nvPr/>
        </p:nvSpPr>
        <p:spPr>
          <a:xfrm>
            <a:off x="822960" y="35661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6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検証が甘いと、Claude は</a:t>
            </a:r>
            <a:endParaRPr lang="ja-JP" sz="1600" dirty="0"/>
          </a:p>
          <a:p>
            <a:pPr indent="0" marL="0">
              <a:buNone/>
            </a:pPr>
            <a:r>
              <a:rPr lang="ja-JP" altLang="en-US" sz="16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「間違った問題」を解く</a:t>
            </a:r>
            <a:endParaRPr lang="ja-JP" sz="1600" dirty="0"/>
          </a:p>
        </p:txBody>
      </p:sp>
      <p:sp>
        <p:nvSpPr>
          <p:cNvPr id="10" name="card-101"/>
          <p:cNvSpPr/>
          <p:nvPr/>
        </p:nvSpPr>
        <p:spPr>
          <a:xfrm>
            <a:off x="4313225" y="1874520"/>
            <a:ext cx="356616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1" name="icon-bg-102"/>
          <p:cNvSpPr/>
          <p:nvPr/>
        </p:nvSpPr>
        <p:spPr>
          <a:xfrm>
            <a:off x="4587545" y="21488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-10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366" y="2321662"/>
            <a:ext cx="294437" cy="294437"/>
          </a:xfrm>
          <a:prstGeom prst="rect">
            <a:avLst/>
          </a:prstGeom>
        </p:spPr>
      </p:pic>
      <p:sp>
        <p:nvSpPr>
          <p:cNvPr id="13" name="text-104"/>
          <p:cNvSpPr txBox="1"/>
          <p:nvPr/>
        </p:nvSpPr>
        <p:spPr>
          <a:xfrm>
            <a:off x="4587545" y="3017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0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向けに設計</a:t>
            </a:r>
            <a:endParaRPr lang="ja-JP" sz="2000" dirty="0"/>
          </a:p>
        </p:txBody>
      </p:sp>
      <p:sp>
        <p:nvSpPr>
          <p:cNvPr id="14" name="text-105"/>
          <p:cNvSpPr txBox="1"/>
          <p:nvPr/>
        </p:nvSpPr>
        <p:spPr>
          <a:xfrm>
            <a:off x="4587545" y="35661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6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出力は数行、詳細はログへ。</a:t>
            </a:r>
            <a:endParaRPr lang="ja-JP" sz="1600" dirty="0"/>
          </a:p>
          <a:p>
            <a:pPr indent="0" marL="0">
              <a:buNone/>
            </a:pPr>
            <a:r>
              <a:rPr lang="ja-JP" altLang="en-US" sz="16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ERROR は同じ行に書き、</a:t>
            </a:r>
            <a:endParaRPr lang="ja-JP" sz="1600" dirty="0"/>
          </a:p>
          <a:p>
            <a:pPr indent="0" marL="0">
              <a:buNone/>
            </a:pPr>
            <a:r>
              <a:rPr lang="ja-JP" altLang="en-US" sz="16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grep で拾えるように</a:t>
            </a:r>
            <a:endParaRPr lang="ja-JP" sz="1600" dirty="0"/>
          </a:p>
        </p:txBody>
      </p:sp>
      <p:sp>
        <p:nvSpPr>
          <p:cNvPr id="15" name="card-106"/>
          <p:cNvSpPr/>
          <p:nvPr/>
        </p:nvSpPr>
        <p:spPr>
          <a:xfrm>
            <a:off x="8077810" y="1874520"/>
            <a:ext cx="356616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6" name="icon-bg-107"/>
          <p:cNvSpPr/>
          <p:nvPr/>
        </p:nvSpPr>
        <p:spPr>
          <a:xfrm>
            <a:off x="8352130" y="214884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icon-10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951" y="2321662"/>
            <a:ext cx="294437" cy="294437"/>
          </a:xfrm>
          <a:prstGeom prst="rect">
            <a:avLst/>
          </a:prstGeom>
        </p:spPr>
      </p:pic>
      <p:sp>
        <p:nvSpPr>
          <p:cNvPr id="18" name="text-109"/>
          <p:cNvSpPr txBox="1"/>
          <p:nvPr/>
        </p:nvSpPr>
        <p:spPr>
          <a:xfrm>
            <a:off x="8352130" y="3017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0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時間感覚が弱い</a:t>
            </a:r>
            <a:endParaRPr lang="ja-JP" sz="2000" dirty="0"/>
          </a:p>
        </p:txBody>
      </p:sp>
      <p:sp>
        <p:nvSpPr>
          <p:cNvPr id="19" name="text-110"/>
          <p:cNvSpPr txBox="1"/>
          <p:nvPr/>
        </p:nvSpPr>
        <p:spPr>
          <a:xfrm>
            <a:off x="8352130" y="35661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6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--fast で 1% / 10% の</a:t>
            </a:r>
            <a:endParaRPr lang="ja-JP" sz="1600" dirty="0"/>
          </a:p>
          <a:p>
            <a:pPr indent="0" marL="0">
              <a:buNone/>
            </a:pPr>
            <a:r>
              <a:rPr lang="ja-JP" altLang="en-US" sz="16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ランダムサンプルだけ走らせる</a:t>
            </a:r>
            <a:endParaRPr lang="ja-JP" sz="1600" dirty="0"/>
          </a:p>
        </p:txBody>
      </p:sp>
      <p:sp>
        <p:nvSpPr>
          <p:cNvPr id="20" name="card-111"/>
          <p:cNvSpPr/>
          <p:nvPr/>
        </p:nvSpPr>
        <p:spPr>
          <a:xfrm>
            <a:off x="548640" y="5120640"/>
            <a:ext cx="54406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21" name="pill-112"/>
          <p:cNvSpPr/>
          <p:nvPr/>
        </p:nvSpPr>
        <p:spPr>
          <a:xfrm>
            <a:off x="777240" y="5230368"/>
            <a:ext cx="731520" cy="310896"/>
          </a:xfrm>
          <a:prstGeom prst="roundRect">
            <a:avLst>
              <a:gd name="adj" fmla="val 47059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限界</a:t>
            </a:r>
            <a:endParaRPr lang="ja-JP" sz="1200" dirty="0"/>
          </a:p>
        </p:txBody>
      </p:sp>
      <p:sp>
        <p:nvSpPr>
          <p:cNvPr id="22" name="text-113"/>
          <p:cNvSpPr txBox="1"/>
          <p:nvPr/>
        </p:nvSpPr>
        <p:spPr>
          <a:xfrm>
            <a:off x="777240" y="5623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6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新機能が既存機能を壊し始め、後から CI を導入</a:t>
            </a:r>
            <a:endParaRPr lang="ja-JP" sz="1600" dirty="0"/>
          </a:p>
        </p:txBody>
      </p:sp>
      <p:sp>
        <p:nvSpPr>
          <p:cNvPr id="23" name="card-114"/>
          <p:cNvSpPr/>
          <p:nvPr/>
        </p:nvSpPr>
        <p:spPr>
          <a:xfrm>
            <a:off x="6202375" y="5120640"/>
            <a:ext cx="54406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24" name="pill-115"/>
          <p:cNvSpPr/>
          <p:nvPr/>
        </p:nvSpPr>
        <p:spPr>
          <a:xfrm>
            <a:off x="6430975" y="5230368"/>
            <a:ext cx="1645920" cy="310896"/>
          </a:xfrm>
          <a:prstGeom prst="roundRect">
            <a:avLst>
              <a:gd name="adj" fmla="val 47059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今の Claude Code</a:t>
            </a:r>
            <a:endParaRPr lang="ja-JP" sz="1200" dirty="0"/>
          </a:p>
        </p:txBody>
      </p:sp>
      <p:sp>
        <p:nvSpPr>
          <p:cNvPr id="25" name="text-116"/>
          <p:cNvSpPr txBox="1"/>
          <p:nvPr/>
        </p:nvSpPr>
        <p:spPr>
          <a:xfrm>
            <a:off x="6430975" y="5623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6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/batch ・ worktree ・ claude --cloud が該当</a:t>
            </a:r>
            <a:endParaRPr lang="ja-JP" sz="1600" dirty="0"/>
          </a:p>
        </p:txBody>
      </p:sp>
      <p:sp>
        <p:nvSpPr>
          <p:cNvPr id="26" name="text-117"/>
          <p:cNvSpPr txBox="1"/>
          <p:nvPr/>
        </p:nvSpPr>
        <p:spPr>
          <a:xfrm>
            <a:off x="548640" y="63550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00" dirty="0">
                <a:solidFill>
                  <a:schemeClr val="accent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Anthropic Engineering「Building a C compiler …」(2026/02)・Claude Code docs「Best practices」</a:t>
            </a:r>
            <a:endParaRPr lang="ja-JP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ll-118"/>
          <p:cNvSpPr/>
          <p:nvPr/>
        </p:nvSpPr>
        <p:spPr>
          <a:xfrm>
            <a:off x="548640" y="365760"/>
            <a:ext cx="1673352" cy="310896"/>
          </a:xfrm>
          <a:prstGeom prst="roundRect">
            <a:avLst>
              <a:gd name="adj" fmla="val 4705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評価の分離</a:t>
            </a:r>
            <a:endParaRPr lang="ja-JP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4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自分の成果物を褒める agent</a:t>
            </a:r>
            <a:endParaRPr lang="ja-JP" sz="3400" dirty="0"/>
          </a:p>
        </p:txBody>
      </p:sp>
      <p:sp>
        <p:nvSpPr>
          <p:cNvPr id="5" name="card-119"/>
          <p:cNvSpPr/>
          <p:nvPr/>
        </p:nvSpPr>
        <p:spPr>
          <a:xfrm>
            <a:off x="548640" y="1874520"/>
            <a:ext cx="704088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6" name="pill-120"/>
          <p:cNvSpPr/>
          <p:nvPr/>
        </p:nvSpPr>
        <p:spPr>
          <a:xfrm>
            <a:off x="777240" y="2011680"/>
            <a:ext cx="1280160" cy="310896"/>
          </a:xfrm>
          <a:prstGeom prst="roundRect">
            <a:avLst>
              <a:gd name="adj" fmla="val 47059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単独 agent</a:t>
            </a:r>
            <a:endParaRPr lang="ja-JP" sz="1200" dirty="0"/>
          </a:p>
        </p:txBody>
      </p:sp>
      <p:sp>
        <p:nvSpPr>
          <p:cNvPr id="7" name="flow-box-121"/>
          <p:cNvSpPr/>
          <p:nvPr/>
        </p:nvSpPr>
        <p:spPr>
          <a:xfrm>
            <a:off x="777240" y="2514600"/>
            <a:ext cx="137160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/>
        </p:spPr>
      </p:sp>
      <p:sp>
        <p:nvSpPr>
          <p:cNvPr id="8" name="text-123"/>
          <p:cNvSpPr txBox="1"/>
          <p:nvPr/>
        </p:nvSpPr>
        <p:spPr>
          <a:xfrm>
            <a:off x="914400" y="26243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7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作る</a:t>
            </a:r>
            <a:endParaRPr lang="ja-JP" sz="1700" dirty="0"/>
          </a:p>
        </p:txBody>
      </p:sp>
      <p:sp>
        <p:nvSpPr>
          <p:cNvPr id="9" name="flow-box-124"/>
          <p:cNvSpPr/>
          <p:nvPr/>
        </p:nvSpPr>
        <p:spPr>
          <a:xfrm>
            <a:off x="2606040" y="2514600"/>
            <a:ext cx="182880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/>
        </p:spPr>
      </p:sp>
      <p:sp>
        <p:nvSpPr>
          <p:cNvPr id="10" name="text-126"/>
          <p:cNvSpPr txBox="1"/>
          <p:nvPr/>
        </p:nvSpPr>
        <p:spPr>
          <a:xfrm>
            <a:off x="2743200" y="26243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7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自分で採点</a:t>
            </a:r>
            <a:endParaRPr lang="ja-JP" sz="1700" dirty="0"/>
          </a:p>
        </p:txBody>
      </p:sp>
      <p:sp>
        <p:nvSpPr>
          <p:cNvPr id="11" name="flow-box-127"/>
          <p:cNvSpPr/>
          <p:nvPr/>
        </p:nvSpPr>
        <p:spPr>
          <a:xfrm>
            <a:off x="4846320" y="2514600"/>
            <a:ext cx="2468880" cy="777240"/>
          </a:xfrm>
          <a:prstGeom prst="roundRect">
            <a:avLst>
              <a:gd name="adj" fmla="val 14118"/>
            </a:avLst>
          </a:prstGeom>
          <a:solidFill>
            <a:schemeClr val="bg1"/>
          </a:solidFill>
          <a:ln/>
        </p:spPr>
      </p:sp>
      <p:sp>
        <p:nvSpPr>
          <p:cNvPr id="12" name="text-129"/>
          <p:cNvSpPr txBox="1"/>
          <p:nvPr/>
        </p:nvSpPr>
        <p:spPr>
          <a:xfrm>
            <a:off x="4983480" y="2624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700" b="1" dirty="0">
                <a:solidFill>
                  <a:schemeClr val="accent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「よくできました」</a:t>
            </a:r>
            <a:endParaRPr lang="ja-JP" sz="1700" dirty="0"/>
          </a:p>
        </p:txBody>
      </p:sp>
      <p:sp>
        <p:nvSpPr>
          <p:cNvPr id="13" name="arrow-130"/>
          <p:cNvSpPr/>
          <p:nvPr/>
        </p:nvSpPr>
        <p:spPr>
          <a:xfrm>
            <a:off x="2194560" y="2770632"/>
            <a:ext cx="237744" cy="27432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14" name="arrow-131"/>
          <p:cNvSpPr/>
          <p:nvPr/>
        </p:nvSpPr>
        <p:spPr>
          <a:xfrm>
            <a:off x="4480560" y="2770632"/>
            <a:ext cx="237744" cy="27432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15" name="card-132"/>
          <p:cNvSpPr/>
          <p:nvPr/>
        </p:nvSpPr>
        <p:spPr>
          <a:xfrm>
            <a:off x="548640" y="3657600"/>
            <a:ext cx="704088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/>
        </p:spPr>
      </p:sp>
      <p:sp>
        <p:nvSpPr>
          <p:cNvPr id="16" name="pill-133"/>
          <p:cNvSpPr/>
          <p:nvPr/>
        </p:nvSpPr>
        <p:spPr>
          <a:xfrm>
            <a:off x="777240" y="3794760"/>
            <a:ext cx="822960" cy="310896"/>
          </a:xfrm>
          <a:prstGeom prst="roundRect">
            <a:avLst>
              <a:gd name="adj" fmla="val 47059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分離</a:t>
            </a:r>
            <a:endParaRPr lang="ja-JP" sz="1200" dirty="0"/>
          </a:p>
        </p:txBody>
      </p:sp>
      <p:sp>
        <p:nvSpPr>
          <p:cNvPr id="17" name="flow-box-134"/>
          <p:cNvSpPr/>
          <p:nvPr/>
        </p:nvSpPr>
        <p:spPr>
          <a:xfrm>
            <a:off x="777240" y="4297680"/>
            <a:ext cx="182880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</p:spPr>
      </p:sp>
      <p:sp>
        <p:nvSpPr>
          <p:cNvPr id="18" name="text-136"/>
          <p:cNvSpPr txBox="1"/>
          <p:nvPr/>
        </p:nvSpPr>
        <p:spPr>
          <a:xfrm>
            <a:off x="914400" y="44074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7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Planner</a:t>
            </a:r>
            <a:endParaRPr lang="ja-JP" sz="1700" dirty="0"/>
          </a:p>
        </p:txBody>
      </p:sp>
      <p:sp>
        <p:nvSpPr>
          <p:cNvPr id="19" name="text-137"/>
          <p:cNvSpPr txBox="1"/>
          <p:nvPr/>
        </p:nvSpPr>
        <p:spPr>
          <a:xfrm>
            <a:off x="914400" y="4800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400" dirty="0">
                <a:solidFill>
                  <a:schemeClr val="accent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1〜4 文を仕様へ</a:t>
            </a:r>
            <a:endParaRPr lang="ja-JP" sz="1400" dirty="0"/>
          </a:p>
        </p:txBody>
      </p:sp>
      <p:sp>
        <p:nvSpPr>
          <p:cNvPr id="20" name="flow-box-138"/>
          <p:cNvSpPr/>
          <p:nvPr/>
        </p:nvSpPr>
        <p:spPr>
          <a:xfrm>
            <a:off x="2926080" y="4297680"/>
            <a:ext cx="182880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</p:spPr>
      </p:sp>
      <p:sp>
        <p:nvSpPr>
          <p:cNvPr id="21" name="text-140"/>
          <p:cNvSpPr txBox="1"/>
          <p:nvPr/>
        </p:nvSpPr>
        <p:spPr>
          <a:xfrm>
            <a:off x="3063240" y="440740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7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Generator</a:t>
            </a:r>
            <a:endParaRPr lang="ja-JP" sz="1700" dirty="0"/>
          </a:p>
        </p:txBody>
      </p:sp>
      <p:sp>
        <p:nvSpPr>
          <p:cNvPr id="22" name="text-141"/>
          <p:cNvSpPr txBox="1"/>
          <p:nvPr/>
        </p:nvSpPr>
        <p:spPr>
          <a:xfrm>
            <a:off x="3063240" y="4800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400" dirty="0">
                <a:solidFill>
                  <a:schemeClr val="accent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sprint ごとに実装</a:t>
            </a:r>
            <a:endParaRPr lang="ja-JP" sz="1400" dirty="0"/>
          </a:p>
        </p:txBody>
      </p:sp>
      <p:sp>
        <p:nvSpPr>
          <p:cNvPr id="23" name="flow-box-142"/>
          <p:cNvSpPr/>
          <p:nvPr/>
        </p:nvSpPr>
        <p:spPr>
          <a:xfrm>
            <a:off x="5074920" y="4297680"/>
            <a:ext cx="228600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</p:spPr>
      </p:sp>
      <p:sp>
        <p:nvSpPr>
          <p:cNvPr id="24" name="text-144"/>
          <p:cNvSpPr txBox="1"/>
          <p:nvPr/>
        </p:nvSpPr>
        <p:spPr>
          <a:xfrm>
            <a:off x="5212080" y="44074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7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Evaluator</a:t>
            </a:r>
            <a:endParaRPr lang="ja-JP" sz="1700" dirty="0"/>
          </a:p>
        </p:txBody>
      </p:sp>
      <p:sp>
        <p:nvSpPr>
          <p:cNvPr id="25" name="text-145"/>
          <p:cNvSpPr txBox="1"/>
          <p:nvPr/>
        </p:nvSpPr>
        <p:spPr>
          <a:xfrm>
            <a:off x="5212080" y="4800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400" dirty="0">
                <a:solidFill>
                  <a:schemeClr val="accent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Playwright で操作・採点</a:t>
            </a:r>
            <a:endParaRPr lang="ja-JP" sz="1400" dirty="0"/>
          </a:p>
        </p:txBody>
      </p:sp>
      <p:sp>
        <p:nvSpPr>
          <p:cNvPr id="26" name="arrow-146"/>
          <p:cNvSpPr/>
          <p:nvPr/>
        </p:nvSpPr>
        <p:spPr>
          <a:xfrm>
            <a:off x="2651760" y="4709160"/>
            <a:ext cx="256032" cy="27432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27" name="arrow-147"/>
          <p:cNvSpPr/>
          <p:nvPr/>
        </p:nvSpPr>
        <p:spPr>
          <a:xfrm>
            <a:off x="4773168" y="4608576"/>
            <a:ext cx="310896" cy="155448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28" name="arrow-148"/>
          <p:cNvSpPr/>
          <p:nvPr/>
        </p:nvSpPr>
        <p:spPr>
          <a:xfrm>
            <a:off x="4773168" y="4846320"/>
            <a:ext cx="310896" cy="155448"/>
          </a:xfrm>
          <a:prstGeom prst="leftArrow">
            <a:avLst/>
          </a:prstGeom>
          <a:solidFill>
            <a:schemeClr val="accent3"/>
          </a:solidFill>
          <a:ln/>
        </p:spPr>
      </p:sp>
      <p:sp>
        <p:nvSpPr>
          <p:cNvPr id="29" name="text-149"/>
          <p:cNvSpPr txBox="1"/>
          <p:nvPr/>
        </p:nvSpPr>
        <p:spPr>
          <a:xfrm>
            <a:off x="777240" y="55778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accent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sprint の前に「完了の定義(contract)」を合意</a:t>
            </a:r>
            <a:endParaRPr lang="ja-JP" sz="1400" dirty="0"/>
          </a:p>
        </p:txBody>
      </p:sp>
      <p:sp>
        <p:nvSpPr>
          <p:cNvPr id="30" name="badge-150"/>
          <p:cNvSpPr/>
          <p:nvPr/>
        </p:nvSpPr>
        <p:spPr>
          <a:xfrm>
            <a:off x="7863840" y="18745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31" name="text-151"/>
          <p:cNvSpPr txBox="1"/>
          <p:nvPr/>
        </p:nvSpPr>
        <p:spPr>
          <a:xfrm>
            <a:off x="8412480" y="1856232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6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agent は凡庸な成果物でも</a:t>
            </a:r>
            <a:endParaRPr lang="ja-JP" sz="1600" dirty="0"/>
          </a:p>
          <a:p>
            <a:pPr indent="0" marL="0">
              <a:buNone/>
            </a:pPr>
            <a:r>
              <a:rPr lang="ja-JP" altLang="en-US" sz="16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自信満々に褒める</a:t>
            </a:r>
            <a:endParaRPr lang="ja-JP" sz="1600" dirty="0"/>
          </a:p>
          <a:p>
            <a:pPr indent="0" marL="0">
              <a:buNone/>
            </a:pPr>
            <a:r>
              <a:rPr lang="ja-JP" altLang="en-US" sz="16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(自己評価バイアス)</a:t>
            </a:r>
            <a:endParaRPr lang="ja-JP" sz="1600" dirty="0"/>
          </a:p>
        </p:txBody>
      </p:sp>
      <p:sp>
        <p:nvSpPr>
          <p:cNvPr id="32" name="badge-152"/>
          <p:cNvSpPr/>
          <p:nvPr/>
        </p:nvSpPr>
        <p:spPr>
          <a:xfrm>
            <a:off x="7863840" y="32918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33" name="text-153"/>
          <p:cNvSpPr txBox="1"/>
          <p:nvPr/>
        </p:nvSpPr>
        <p:spPr>
          <a:xfrm>
            <a:off x="8412480" y="3273552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6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分離しただけでは</a:t>
            </a:r>
            <a:endParaRPr lang="ja-JP" sz="1600" dirty="0"/>
          </a:p>
          <a:p>
            <a:pPr indent="0" marL="0">
              <a:buNone/>
            </a:pPr>
            <a:r>
              <a:rPr lang="ja-JP" altLang="en-US" sz="16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寛大さは消えない。</a:t>
            </a:r>
            <a:endParaRPr lang="ja-JP" sz="1600" dirty="0"/>
          </a:p>
          <a:p>
            <a:pPr indent="0" marL="0">
              <a:buNone/>
            </a:pPr>
            <a:r>
              <a:rPr lang="ja-JP" altLang="en-US" sz="16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評価者を懐疑的に調整する</a:t>
            </a:r>
            <a:endParaRPr lang="ja-JP" sz="1600" dirty="0"/>
          </a:p>
        </p:txBody>
      </p:sp>
      <p:sp>
        <p:nvSpPr>
          <p:cNvPr id="34" name="badge-154"/>
          <p:cNvSpPr/>
          <p:nvPr/>
        </p:nvSpPr>
        <p:spPr>
          <a:xfrm>
            <a:off x="7863840" y="47091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35" name="text-155"/>
          <p:cNvSpPr txBox="1"/>
          <p:nvPr/>
        </p:nvSpPr>
        <p:spPr>
          <a:xfrm>
            <a:off x="8412480" y="4690872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6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実ページを操作し、</a:t>
            </a:r>
            <a:endParaRPr lang="ja-JP" sz="1600" dirty="0"/>
          </a:p>
          <a:p>
            <a:pPr indent="0" marL="0">
              <a:buNone/>
            </a:pPr>
            <a:r>
              <a:rPr lang="ja-JP" altLang="en-US" sz="16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基準ごとに採点する</a:t>
            </a:r>
            <a:endParaRPr lang="ja-JP" sz="1600" dirty="0"/>
          </a:p>
        </p:txBody>
      </p:sp>
      <p:sp>
        <p:nvSpPr>
          <p:cNvPr id="36" name="text-156"/>
          <p:cNvSpPr txBox="1"/>
          <p:nvPr/>
        </p:nvSpPr>
        <p:spPr>
          <a:xfrm>
            <a:off x="548640" y="63550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00" dirty="0">
                <a:solidFill>
                  <a:schemeClr val="accent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Anthropic Engineering「Harness design for long-running application development」(2026/03)</a:t>
            </a:r>
            <a:endParaRPr lang="ja-JP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ll-157"/>
          <p:cNvSpPr/>
          <p:nvPr/>
        </p:nvSpPr>
        <p:spPr>
          <a:xfrm>
            <a:off x="548640" y="365760"/>
            <a:ext cx="1673352" cy="310896"/>
          </a:xfrm>
          <a:prstGeom prst="roundRect">
            <a:avLst>
              <a:gd name="adj" fmla="val 4705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評価の分離</a:t>
            </a:r>
            <a:endParaRPr lang="ja-JP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4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 分 $9 vs 6 時間 $200</a:t>
            </a:r>
            <a:endParaRPr lang="ja-JP" sz="3400" dirty="0"/>
          </a:p>
        </p:txBody>
      </p:sp>
      <p:sp>
        <p:nvSpPr>
          <p:cNvPr id="5" name="card-158"/>
          <p:cNvSpPr/>
          <p:nvPr/>
        </p:nvSpPr>
        <p:spPr>
          <a:xfrm>
            <a:off x="548640" y="1874520"/>
            <a:ext cx="5440680" cy="2971800"/>
          </a:xfrm>
          <a:prstGeom prst="roundRect">
            <a:avLst>
              <a:gd name="adj" fmla="val 3692"/>
            </a:avLst>
          </a:prstGeom>
          <a:solidFill>
            <a:schemeClr val="bg2"/>
          </a:solidFill>
          <a:ln/>
        </p:spPr>
      </p:sp>
      <p:sp>
        <p:nvSpPr>
          <p:cNvPr id="6" name="pill-159"/>
          <p:cNvSpPr/>
          <p:nvPr/>
        </p:nvSpPr>
        <p:spPr>
          <a:xfrm>
            <a:off x="822960" y="2103120"/>
            <a:ext cx="1371600" cy="329184"/>
          </a:xfrm>
          <a:prstGeom prst="roundRect">
            <a:avLst>
              <a:gd name="adj" fmla="val 44444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単独 agent</a:t>
            </a:r>
            <a:endParaRPr lang="ja-JP" sz="1300" dirty="0"/>
          </a:p>
        </p:txBody>
      </p:sp>
      <p:sp>
        <p:nvSpPr>
          <p:cNvPr id="7" name="text-160"/>
          <p:cNvSpPr txBox="1"/>
          <p:nvPr/>
        </p:nvSpPr>
        <p:spPr>
          <a:xfrm>
            <a:off x="822960" y="26060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48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 分</a:t>
            </a:r>
            <a:endParaRPr lang="ja-JP" sz="4800" dirty="0"/>
          </a:p>
        </p:txBody>
      </p:sp>
      <p:sp>
        <p:nvSpPr>
          <p:cNvPr id="8" name="text-161"/>
          <p:cNvSpPr txBox="1"/>
          <p:nvPr/>
        </p:nvSpPr>
        <p:spPr>
          <a:xfrm>
            <a:off x="3383280" y="26060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48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$9</a:t>
            </a:r>
            <a:endParaRPr lang="ja-JP" sz="4800" dirty="0"/>
          </a:p>
        </p:txBody>
      </p:sp>
      <p:sp>
        <p:nvSpPr>
          <p:cNvPr id="9" name="text-162"/>
          <p:cNvSpPr txBox="1"/>
          <p:nvPr/>
        </p:nvSpPr>
        <p:spPr>
          <a:xfrm>
            <a:off x="822960" y="36576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700" b="1" dirty="0">
                <a:solidFill>
                  <a:schemeClr val="accent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画面は出るが、</a:t>
            </a:r>
            <a:endParaRPr lang="ja-JP" sz="1700" dirty="0"/>
          </a:p>
          <a:p>
            <a:pPr indent="0" marL="0">
              <a:buNone/>
            </a:pPr>
            <a:r>
              <a:rPr lang="ja-JP" altLang="en-US" sz="1700" b="1" dirty="0">
                <a:solidFill>
                  <a:schemeClr val="accent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入力に反応せず動かない</a:t>
            </a:r>
            <a:endParaRPr lang="ja-JP" sz="1700" dirty="0"/>
          </a:p>
        </p:txBody>
      </p:sp>
      <p:sp>
        <p:nvSpPr>
          <p:cNvPr id="10" name="card-163"/>
          <p:cNvSpPr/>
          <p:nvPr/>
        </p:nvSpPr>
        <p:spPr>
          <a:xfrm>
            <a:off x="6202375" y="1874520"/>
            <a:ext cx="5440680" cy="2971800"/>
          </a:xfrm>
          <a:prstGeom prst="roundRect">
            <a:avLst>
              <a:gd name="adj" fmla="val 3692"/>
            </a:avLst>
          </a:prstGeom>
          <a:solidFill>
            <a:schemeClr val="tx2"/>
          </a:solidFill>
          <a:ln/>
        </p:spPr>
      </p:sp>
      <p:sp>
        <p:nvSpPr>
          <p:cNvPr id="11" name="pill-164"/>
          <p:cNvSpPr/>
          <p:nvPr/>
        </p:nvSpPr>
        <p:spPr>
          <a:xfrm>
            <a:off x="6473952" y="2103120"/>
            <a:ext cx="3474720" cy="329184"/>
          </a:xfrm>
          <a:prstGeom prst="roundRect">
            <a:avLst>
              <a:gd name="adj" fmla="val 44444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3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planner + generator + evaluator</a:t>
            </a:r>
            <a:endParaRPr lang="ja-JP" sz="1300" dirty="0"/>
          </a:p>
        </p:txBody>
      </p:sp>
      <p:sp>
        <p:nvSpPr>
          <p:cNvPr id="12" name="text-165"/>
          <p:cNvSpPr txBox="1"/>
          <p:nvPr/>
        </p:nvSpPr>
        <p:spPr>
          <a:xfrm>
            <a:off x="6473952" y="26060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4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 時間</a:t>
            </a:r>
            <a:endParaRPr lang="ja-JP" sz="4800" dirty="0"/>
          </a:p>
        </p:txBody>
      </p:sp>
      <p:sp>
        <p:nvSpPr>
          <p:cNvPr id="13" name="text-166"/>
          <p:cNvSpPr txBox="1"/>
          <p:nvPr/>
        </p:nvSpPr>
        <p:spPr>
          <a:xfrm>
            <a:off x="9144000" y="26060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4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$200</a:t>
            </a:r>
            <a:endParaRPr lang="ja-JP" sz="4800" dirty="0"/>
          </a:p>
        </p:txBody>
      </p:sp>
      <p:sp>
        <p:nvSpPr>
          <p:cNvPr id="14" name="text-167"/>
          <p:cNvSpPr txBox="1"/>
          <p:nvPr/>
        </p:nvSpPr>
        <p:spPr>
          <a:xfrm>
            <a:off x="6473952" y="36576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7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コストは 20 倍超。それでも品質の差は一目瞭然</a:t>
            </a:r>
            <a:endParaRPr lang="ja-JP" sz="1700" dirty="0"/>
          </a:p>
        </p:txBody>
      </p:sp>
      <p:sp>
        <p:nvSpPr>
          <p:cNvPr id="15" name="card-168"/>
          <p:cNvSpPr/>
          <p:nvPr/>
        </p:nvSpPr>
        <p:spPr>
          <a:xfrm>
            <a:off x="548640" y="5074920"/>
            <a:ext cx="11094415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6" name="icon-bg-169"/>
          <p:cNvSpPr/>
          <p:nvPr/>
        </p:nvSpPr>
        <p:spPr>
          <a:xfrm>
            <a:off x="777240" y="53035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con-17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5451653"/>
            <a:ext cx="252374" cy="252374"/>
          </a:xfrm>
          <a:prstGeom prst="rect">
            <a:avLst/>
          </a:prstGeom>
        </p:spPr>
      </p:pic>
      <p:sp>
        <p:nvSpPr>
          <p:cNvPr id="18" name="text-171"/>
          <p:cNvSpPr txBox="1"/>
          <p:nvPr/>
        </p:nvSpPr>
        <p:spPr>
          <a:xfrm>
            <a:off x="1554480" y="5175504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9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harness の各部品は「モデルが単独ではできないこと」の仮説</a:t>
            </a:r>
            <a:endParaRPr lang="ja-JP" sz="1900" dirty="0"/>
          </a:p>
        </p:txBody>
      </p:sp>
      <p:sp>
        <p:nvSpPr>
          <p:cNvPr id="19" name="text-172"/>
          <p:cNvSpPr txBox="1"/>
          <p:nvPr/>
        </p:nvSpPr>
        <p:spPr>
          <a:xfrm>
            <a:off x="1554480" y="561441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accent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モデルが進化したら外す — Opus 4.6 では sprint 構造を削除し、planner と evaluator は残した</a:t>
            </a:r>
            <a:endParaRPr lang="ja-JP" sz="1400" dirty="0"/>
          </a:p>
        </p:txBody>
      </p:sp>
      <p:sp>
        <p:nvSpPr>
          <p:cNvPr id="20" name="text-173"/>
          <p:cNvSpPr txBox="1"/>
          <p:nvPr/>
        </p:nvSpPr>
        <p:spPr>
          <a:xfrm>
            <a:off x="548640" y="63550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00" dirty="0">
                <a:solidFill>
                  <a:schemeClr val="accent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Anthropic Engineering「Harness design for long-running application development」(2026/03)・数字は Opus 4.5 の例</a:t>
            </a:r>
            <a:endParaRPr lang="ja-JP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ll-174"/>
          <p:cNvSpPr/>
          <p:nvPr/>
        </p:nvSpPr>
        <p:spPr>
          <a:xfrm>
            <a:off x="548640" y="365760"/>
            <a:ext cx="1673352" cy="310896"/>
          </a:xfrm>
          <a:prstGeom prst="roundRect">
            <a:avLst>
              <a:gd name="adj" fmla="val 4705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/goal</a:t>
            </a:r>
            <a:endParaRPr lang="ja-JP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4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/goal は、ループに終点と審判を付ける</a:t>
            </a:r>
            <a:endParaRPr lang="ja-JP" sz="3400" dirty="0"/>
          </a:p>
        </p:txBody>
      </p:sp>
      <p:sp>
        <p:nvSpPr>
          <p:cNvPr id="5" name="card-175"/>
          <p:cNvSpPr/>
          <p:nvPr/>
        </p:nvSpPr>
        <p:spPr>
          <a:xfrm>
            <a:off x="548640" y="1874520"/>
            <a:ext cx="17373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6" name="text-176"/>
          <p:cNvSpPr txBox="1"/>
          <p:nvPr/>
        </p:nvSpPr>
        <p:spPr>
          <a:xfrm>
            <a:off x="640080" y="18745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が作業</a:t>
            </a:r>
            <a:endParaRPr lang="ja-JP" sz="1500" dirty="0"/>
          </a:p>
        </p:txBody>
      </p:sp>
      <p:sp>
        <p:nvSpPr>
          <p:cNvPr id="7" name="arrow-177"/>
          <p:cNvSpPr/>
          <p:nvPr/>
        </p:nvSpPr>
        <p:spPr>
          <a:xfrm>
            <a:off x="2331720" y="2167128"/>
            <a:ext cx="237744" cy="27432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8" name="card-178"/>
          <p:cNvSpPr/>
          <p:nvPr/>
        </p:nvSpPr>
        <p:spPr>
          <a:xfrm>
            <a:off x="2651760" y="1874520"/>
            <a:ext cx="17373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9" name="text-179"/>
          <p:cNvSpPr txBox="1"/>
          <p:nvPr/>
        </p:nvSpPr>
        <p:spPr>
          <a:xfrm>
            <a:off x="2743200" y="18745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ターン終了</a:t>
            </a:r>
            <a:endParaRPr lang="ja-JP" sz="1500" dirty="0"/>
          </a:p>
        </p:txBody>
      </p:sp>
      <p:sp>
        <p:nvSpPr>
          <p:cNvPr id="10" name="arrow-180"/>
          <p:cNvSpPr/>
          <p:nvPr/>
        </p:nvSpPr>
        <p:spPr>
          <a:xfrm>
            <a:off x="4434840" y="2167128"/>
            <a:ext cx="237744" cy="27432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11" name="card-181"/>
          <p:cNvSpPr/>
          <p:nvPr/>
        </p:nvSpPr>
        <p:spPr>
          <a:xfrm>
            <a:off x="4754880" y="1874520"/>
            <a:ext cx="1737360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/>
        </p:spPr>
      </p:sp>
      <p:sp>
        <p:nvSpPr>
          <p:cNvPr id="12" name="text-182"/>
          <p:cNvSpPr txBox="1"/>
          <p:nvPr/>
        </p:nvSpPr>
        <p:spPr>
          <a:xfrm>
            <a:off x="4846320" y="18745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5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別の小モデルが</a:t>
            </a:r>
            <a:endParaRPr lang="ja-JP" sz="1500" dirty="0"/>
          </a:p>
          <a:p>
            <a:pPr algn="ctr" indent="0" marL="0">
              <a:buNone/>
            </a:pPr>
            <a:r>
              <a:rPr lang="ja-JP" altLang="en-US" sz="15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条件を判定</a:t>
            </a:r>
            <a:endParaRPr lang="ja-JP" sz="1500" dirty="0"/>
          </a:p>
        </p:txBody>
      </p:sp>
      <p:sp>
        <p:nvSpPr>
          <p:cNvPr id="13" name="arrow-183"/>
          <p:cNvSpPr/>
          <p:nvPr/>
        </p:nvSpPr>
        <p:spPr>
          <a:xfrm>
            <a:off x="5513832" y="2779776"/>
            <a:ext cx="219456" cy="274320"/>
          </a:xfrm>
          <a:prstGeom prst="downArrow">
            <a:avLst/>
          </a:prstGeom>
          <a:solidFill>
            <a:schemeClr val="accent3"/>
          </a:solidFill>
          <a:ln/>
        </p:spPr>
      </p:sp>
      <p:sp>
        <p:nvSpPr>
          <p:cNvPr id="14" name="card-184"/>
          <p:cNvSpPr/>
          <p:nvPr/>
        </p:nvSpPr>
        <p:spPr>
          <a:xfrm>
            <a:off x="548640" y="3108960"/>
            <a:ext cx="18745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5" name="text-185"/>
          <p:cNvSpPr txBox="1"/>
          <p:nvPr/>
        </p:nvSpPr>
        <p:spPr>
          <a:xfrm>
            <a:off x="731520" y="3246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未達</a:t>
            </a:r>
            <a:endParaRPr lang="ja-JP" sz="1800" dirty="0"/>
          </a:p>
        </p:txBody>
      </p:sp>
      <p:sp>
        <p:nvSpPr>
          <p:cNvPr id="16" name="text-186"/>
          <p:cNvSpPr txBox="1"/>
          <p:nvPr/>
        </p:nvSpPr>
        <p:spPr>
          <a:xfrm>
            <a:off x="731520" y="37033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理由を指針に</a:t>
            </a:r>
            <a:endParaRPr lang="ja-JP" sz="14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次のターンへ</a:t>
            </a:r>
            <a:endParaRPr lang="ja-JP" sz="1400" dirty="0"/>
          </a:p>
        </p:txBody>
      </p:sp>
      <p:sp>
        <p:nvSpPr>
          <p:cNvPr id="17" name="card-187"/>
          <p:cNvSpPr/>
          <p:nvPr/>
        </p:nvSpPr>
        <p:spPr>
          <a:xfrm>
            <a:off x="2606040" y="3108960"/>
            <a:ext cx="18745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8" name="text-188"/>
          <p:cNvSpPr txBox="1"/>
          <p:nvPr/>
        </p:nvSpPr>
        <p:spPr>
          <a:xfrm>
            <a:off x="2788920" y="3246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達成</a:t>
            </a:r>
            <a:endParaRPr lang="ja-JP" sz="1800" dirty="0"/>
          </a:p>
        </p:txBody>
      </p:sp>
      <p:sp>
        <p:nvSpPr>
          <p:cNvPr id="19" name="text-189"/>
          <p:cNvSpPr txBox="1"/>
          <p:nvPr/>
        </p:nvSpPr>
        <p:spPr>
          <a:xfrm>
            <a:off x="2788920" y="37033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ゴール解除</a:t>
            </a:r>
            <a:endParaRPr lang="ja-JP" sz="14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記録に残る</a:t>
            </a:r>
            <a:endParaRPr lang="ja-JP" sz="1400" dirty="0"/>
          </a:p>
        </p:txBody>
      </p:sp>
      <p:sp>
        <p:nvSpPr>
          <p:cNvPr id="20" name="card-190"/>
          <p:cNvSpPr/>
          <p:nvPr/>
        </p:nvSpPr>
        <p:spPr>
          <a:xfrm>
            <a:off x="4663440" y="3108960"/>
            <a:ext cx="18745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21" name="text-191"/>
          <p:cNvSpPr txBox="1"/>
          <p:nvPr/>
        </p:nvSpPr>
        <p:spPr>
          <a:xfrm>
            <a:off x="4846320" y="3246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accent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不可能</a:t>
            </a:r>
            <a:endParaRPr lang="ja-JP" sz="1800" dirty="0"/>
          </a:p>
        </p:txBody>
      </p:sp>
      <p:sp>
        <p:nvSpPr>
          <p:cNvPr id="22" name="text-192"/>
          <p:cNvSpPr txBox="1"/>
          <p:nvPr/>
        </p:nvSpPr>
        <p:spPr>
          <a:xfrm>
            <a:off x="4846320" y="37033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ゴール解除</a:t>
            </a:r>
            <a:endParaRPr lang="ja-JP" sz="14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理由を記録</a:t>
            </a:r>
            <a:endParaRPr lang="ja-JP" sz="1400" dirty="0"/>
          </a:p>
        </p:txBody>
      </p:sp>
      <p:sp>
        <p:nvSpPr>
          <p:cNvPr id="23" name="card-193"/>
          <p:cNvSpPr/>
          <p:nvPr/>
        </p:nvSpPr>
        <p:spPr>
          <a:xfrm>
            <a:off x="6858000" y="1874520"/>
            <a:ext cx="4785055" cy="265176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/>
        </p:spPr>
      </p:sp>
      <p:sp>
        <p:nvSpPr>
          <p:cNvPr id="24" name="text-194"/>
          <p:cNvSpPr txBox="1"/>
          <p:nvPr/>
        </p:nvSpPr>
        <p:spPr>
          <a:xfrm>
            <a:off x="7132320" y="20116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bg2">
                    <a:alpha val="80000"/>
                  </a:scheme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 コンパイラのループと比べると</a:t>
            </a:r>
            <a:endParaRPr lang="ja-JP" sz="1400" dirty="0"/>
          </a:p>
        </p:txBody>
      </p:sp>
      <p:sp>
        <p:nvSpPr>
          <p:cNvPr id="25" name="text-195"/>
          <p:cNvSpPr txBox="1"/>
          <p:nvPr/>
        </p:nvSpPr>
        <p:spPr>
          <a:xfrm>
            <a:off x="7132320" y="24231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600" b="1" dirty="0">
                <a:solidFill>
                  <a:schemeClr val="accent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while true ループ(第 3 ページ)</a:t>
            </a:r>
            <a:endParaRPr lang="ja-JP" sz="1600" dirty="0"/>
          </a:p>
        </p:txBody>
      </p:sp>
      <p:sp>
        <p:nvSpPr>
          <p:cNvPr id="26" name="text-196"/>
          <p:cNvSpPr txBox="1"/>
          <p:nvPr/>
        </p:nvSpPr>
        <p:spPr>
          <a:xfrm>
            <a:off x="7132320" y="2761488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終点:なし(永遠に回る)</a:t>
            </a:r>
            <a:endParaRPr lang="ja-JP" sz="14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審判:なし(テストが方向を示す)</a:t>
            </a:r>
            <a:endParaRPr lang="ja-JP" sz="1400" dirty="0"/>
          </a:p>
        </p:txBody>
      </p:sp>
      <p:sp>
        <p:nvSpPr>
          <p:cNvPr id="27" name="text-197"/>
          <p:cNvSpPr txBox="1"/>
          <p:nvPr/>
        </p:nvSpPr>
        <p:spPr>
          <a:xfrm>
            <a:off x="7132320" y="345643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6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/goal</a:t>
            </a:r>
            <a:endParaRPr lang="ja-JP" sz="1600" dirty="0"/>
          </a:p>
        </p:txBody>
      </p:sp>
      <p:sp>
        <p:nvSpPr>
          <p:cNvPr id="28" name="text-198"/>
          <p:cNvSpPr txBox="1"/>
          <p:nvPr/>
        </p:nvSpPr>
        <p:spPr>
          <a:xfrm>
            <a:off x="7132320" y="37947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終点:条件が満たされたら解除</a:t>
            </a:r>
            <a:endParaRPr lang="ja-JP" sz="14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審判:別のモデルが毎ターン判定</a:t>
            </a:r>
            <a:endParaRPr lang="ja-JP" sz="1400" dirty="0"/>
          </a:p>
        </p:txBody>
      </p:sp>
      <p:sp>
        <p:nvSpPr>
          <p:cNvPr id="29" name="card-199"/>
          <p:cNvSpPr/>
          <p:nvPr/>
        </p:nvSpPr>
        <p:spPr>
          <a:xfrm>
            <a:off x="548640" y="4754880"/>
            <a:ext cx="11094415" cy="566928"/>
          </a:xfrm>
          <a:prstGeom prst="roundRect">
            <a:avLst>
              <a:gd name="adj" fmla="val 19355"/>
            </a:avLst>
          </a:prstGeom>
          <a:solidFill>
            <a:schemeClr val="tx1"/>
          </a:solidFill>
          <a:ln/>
        </p:spPr>
      </p:sp>
      <p:sp>
        <p:nvSpPr>
          <p:cNvPr id="30" name="text-200"/>
          <p:cNvSpPr txBox="1"/>
          <p:nvPr/>
        </p:nvSpPr>
        <p:spPr>
          <a:xfrm>
            <a:off x="822960" y="4754880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/goal </a:t>
            </a:r>
            <a:pPr indent="0" marL="0">
              <a:buNone/>
            </a:pPr>
            <a:r>
              <a:rPr lang="ja-JP" altLang="en-US" sz="18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test/auth の全テストが通り、lint がクリーン</a:t>
            </a:r>
            <a:endParaRPr lang="ja-JP" sz="1800" dirty="0"/>
          </a:p>
        </p:txBody>
      </p:sp>
      <p:sp>
        <p:nvSpPr>
          <p:cNvPr id="31" name="card-201"/>
          <p:cNvSpPr/>
          <p:nvPr/>
        </p:nvSpPr>
        <p:spPr>
          <a:xfrm>
            <a:off x="548640" y="5468112"/>
            <a:ext cx="356616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/>
        </p:spPr>
      </p:sp>
      <p:sp>
        <p:nvSpPr>
          <p:cNvPr id="32" name="text-202"/>
          <p:cNvSpPr txBox="1"/>
          <p:nvPr/>
        </p:nvSpPr>
        <p:spPr>
          <a:xfrm>
            <a:off x="713232" y="546811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つの session に 1 つの goal。</a:t>
            </a:r>
            <a:endParaRPr lang="ja-JP" sz="14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 session 限定で有効</a:t>
            </a:r>
            <a:endParaRPr lang="ja-JP" sz="1400" dirty="0"/>
          </a:p>
        </p:txBody>
      </p:sp>
      <p:sp>
        <p:nvSpPr>
          <p:cNvPr id="33" name="card-203"/>
          <p:cNvSpPr/>
          <p:nvPr/>
        </p:nvSpPr>
        <p:spPr>
          <a:xfrm>
            <a:off x="4313225" y="5468112"/>
            <a:ext cx="356616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/>
        </p:spPr>
      </p:sp>
      <p:sp>
        <p:nvSpPr>
          <p:cNvPr id="34" name="text-204"/>
          <p:cNvSpPr txBox="1"/>
          <p:nvPr/>
        </p:nvSpPr>
        <p:spPr>
          <a:xfrm>
            <a:off x="4477817" y="546811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上限も条件に書ける</a:t>
            </a:r>
            <a:endParaRPr lang="ja-JP" sz="14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「20 ターンで停止」</a:t>
            </a:r>
            <a:endParaRPr lang="ja-JP" sz="1400" dirty="0"/>
          </a:p>
        </p:txBody>
      </p:sp>
      <p:sp>
        <p:nvSpPr>
          <p:cNvPr id="35" name="card-205"/>
          <p:cNvSpPr/>
          <p:nvPr/>
        </p:nvSpPr>
        <p:spPr>
          <a:xfrm>
            <a:off x="8077810" y="5468112"/>
            <a:ext cx="356616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/>
        </p:spPr>
      </p:sp>
      <p:sp>
        <p:nvSpPr>
          <p:cNvPr id="36" name="text-206"/>
          <p:cNvSpPr txBox="1"/>
          <p:nvPr/>
        </p:nvSpPr>
        <p:spPr>
          <a:xfrm>
            <a:off x="8242402" y="546811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-p でも動く</a:t>
            </a:r>
            <a:endParaRPr lang="ja-JP" sz="14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(無人で最後まで実行)</a:t>
            </a:r>
            <a:endParaRPr lang="ja-JP" sz="1400" dirty="0"/>
          </a:p>
        </p:txBody>
      </p:sp>
      <p:sp>
        <p:nvSpPr>
          <p:cNvPr id="37" name="text-207"/>
          <p:cNvSpPr txBox="1"/>
          <p:nvPr/>
        </p:nvSpPr>
        <p:spPr>
          <a:xfrm>
            <a:off x="548640" y="63550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00" dirty="0">
                <a:solidFill>
                  <a:schemeClr val="accent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Claude Code docs「Keep Claude working toward a goal」(/goal)</a:t>
            </a:r>
            <a:endParaRPr lang="ja-JP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ll-208"/>
          <p:cNvSpPr/>
          <p:nvPr/>
        </p:nvSpPr>
        <p:spPr>
          <a:xfrm>
            <a:off x="548640" y="365760"/>
            <a:ext cx="1673352" cy="310896"/>
          </a:xfrm>
          <a:prstGeom prst="roundRect">
            <a:avLst>
              <a:gd name="adj" fmla="val 4705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/goal</a:t>
            </a:r>
            <a:endParaRPr lang="ja-JP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4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審判は「読むだけ」— 実行はしない</a:t>
            </a:r>
            <a:endParaRPr lang="ja-JP" sz="3400" dirty="0"/>
          </a:p>
        </p:txBody>
      </p:sp>
      <p:sp>
        <p:nvSpPr>
          <p:cNvPr id="5" name="card-209"/>
          <p:cNvSpPr/>
          <p:nvPr/>
        </p:nvSpPr>
        <p:spPr>
          <a:xfrm>
            <a:off x="548640" y="1874520"/>
            <a:ext cx="3044952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6" name="text-210"/>
          <p:cNvSpPr txBox="1"/>
          <p:nvPr/>
        </p:nvSpPr>
        <p:spPr>
          <a:xfrm>
            <a:off x="731520" y="2011680"/>
            <a:ext cx="2679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0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</a:t>
            </a:r>
            <a:endParaRPr lang="ja-JP" sz="2000" dirty="0"/>
          </a:p>
        </p:txBody>
      </p:sp>
      <p:sp>
        <p:nvSpPr>
          <p:cNvPr id="7" name="text-211"/>
          <p:cNvSpPr txBox="1"/>
          <p:nvPr/>
        </p:nvSpPr>
        <p:spPr>
          <a:xfrm>
            <a:off x="731520" y="248716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5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作業する</a:t>
            </a:r>
            <a:endParaRPr lang="ja-JP" sz="1500" dirty="0"/>
          </a:p>
        </p:txBody>
      </p:sp>
      <p:sp>
        <p:nvSpPr>
          <p:cNvPr id="8" name="text-212"/>
          <p:cNvSpPr txBox="1"/>
          <p:nvPr/>
        </p:nvSpPr>
        <p:spPr>
          <a:xfrm>
            <a:off x="457200" y="31546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選手:実際に動いて結果を出す</a:t>
            </a:r>
            <a:endParaRPr lang="ja-JP" sz="1400" dirty="0"/>
          </a:p>
        </p:txBody>
      </p:sp>
      <p:sp>
        <p:nvSpPr>
          <p:cNvPr id="9" name="arrow-213"/>
          <p:cNvSpPr/>
          <p:nvPr/>
        </p:nvSpPr>
        <p:spPr>
          <a:xfrm>
            <a:off x="3749040" y="2286000"/>
            <a:ext cx="365760" cy="36576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10" name="card-214"/>
          <p:cNvSpPr/>
          <p:nvPr/>
        </p:nvSpPr>
        <p:spPr>
          <a:xfrm>
            <a:off x="4572000" y="1874520"/>
            <a:ext cx="3044952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/>
        </p:spPr>
      </p:sp>
      <p:sp>
        <p:nvSpPr>
          <p:cNvPr id="11" name="text-215"/>
          <p:cNvSpPr txBox="1"/>
          <p:nvPr/>
        </p:nvSpPr>
        <p:spPr>
          <a:xfrm>
            <a:off x="4754880" y="2011680"/>
            <a:ext cx="2679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0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会話</a:t>
            </a:r>
            <a:endParaRPr lang="ja-JP" sz="2000" dirty="0"/>
          </a:p>
        </p:txBody>
      </p:sp>
      <p:sp>
        <p:nvSpPr>
          <p:cNvPr id="12" name="text-216"/>
          <p:cNvSpPr txBox="1"/>
          <p:nvPr/>
        </p:nvSpPr>
        <p:spPr>
          <a:xfrm>
            <a:off x="4754880" y="248716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5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テスト結果・ログ</a:t>
            </a:r>
            <a:endParaRPr lang="ja-JP" sz="1500" dirty="0"/>
          </a:p>
        </p:txBody>
      </p:sp>
      <p:sp>
        <p:nvSpPr>
          <p:cNvPr id="13" name="text-217"/>
          <p:cNvSpPr txBox="1"/>
          <p:nvPr/>
        </p:nvSpPr>
        <p:spPr>
          <a:xfrm>
            <a:off x="4480560" y="31546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スコアボード:結果が記録される</a:t>
            </a:r>
            <a:endParaRPr lang="ja-JP" sz="1400" dirty="0"/>
          </a:p>
        </p:txBody>
      </p:sp>
      <p:sp>
        <p:nvSpPr>
          <p:cNvPr id="14" name="arrow-218"/>
          <p:cNvSpPr/>
          <p:nvPr/>
        </p:nvSpPr>
        <p:spPr>
          <a:xfrm>
            <a:off x="7772400" y="2286000"/>
            <a:ext cx="365760" cy="36576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15" name="card-219"/>
          <p:cNvSpPr/>
          <p:nvPr/>
        </p:nvSpPr>
        <p:spPr>
          <a:xfrm>
            <a:off x="8595360" y="1874520"/>
            <a:ext cx="3044952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sp>
        <p:nvSpPr>
          <p:cNvPr id="16" name="text-220"/>
          <p:cNvSpPr txBox="1"/>
          <p:nvPr/>
        </p:nvSpPr>
        <p:spPr>
          <a:xfrm>
            <a:off x="8778240" y="2011680"/>
            <a:ext cx="2679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0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審判(小モデル)</a:t>
            </a:r>
            <a:endParaRPr lang="ja-JP" sz="2000" dirty="0"/>
          </a:p>
        </p:txBody>
      </p:sp>
      <p:sp>
        <p:nvSpPr>
          <p:cNvPr id="17" name="text-221"/>
          <p:cNvSpPr txBox="1"/>
          <p:nvPr/>
        </p:nvSpPr>
        <p:spPr>
          <a:xfrm>
            <a:off x="8778240" y="248716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5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読んで判定する</a:t>
            </a:r>
            <a:endParaRPr lang="ja-JP" sz="1500" dirty="0"/>
          </a:p>
        </p:txBody>
      </p:sp>
      <p:sp>
        <p:nvSpPr>
          <p:cNvPr id="18" name="text-222"/>
          <p:cNvSpPr txBox="1"/>
          <p:nvPr/>
        </p:nvSpPr>
        <p:spPr>
          <a:xfrm>
            <a:off x="8503920" y="31546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ja-JP" altLang="en-US" sz="1400" b="1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審判:見るだけ(自分では確かめない)</a:t>
            </a:r>
            <a:endParaRPr lang="ja-JP" sz="1400" dirty="0"/>
          </a:p>
        </p:txBody>
      </p:sp>
      <p:sp>
        <p:nvSpPr>
          <p:cNvPr id="19" name="card-223"/>
          <p:cNvSpPr/>
          <p:nvPr/>
        </p:nvSpPr>
        <p:spPr>
          <a:xfrm>
            <a:off x="548640" y="3703320"/>
            <a:ext cx="544068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0" name="icon-bg-224"/>
          <p:cNvSpPr/>
          <p:nvPr/>
        </p:nvSpPr>
        <p:spPr>
          <a:xfrm>
            <a:off x="777240" y="393192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1" name="icon-22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717" y="4092397"/>
            <a:ext cx="273406" cy="273406"/>
          </a:xfrm>
          <a:prstGeom prst="rect">
            <a:avLst/>
          </a:prstGeom>
        </p:spPr>
      </p:pic>
      <p:sp>
        <p:nvSpPr>
          <p:cNvPr id="22" name="text-226"/>
          <p:cNvSpPr txBox="1"/>
          <p:nvPr/>
        </p:nvSpPr>
        <p:spPr>
          <a:xfrm>
            <a:off x="1554480" y="3886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判定できる条件</a:t>
            </a:r>
            <a:endParaRPr lang="ja-JP" sz="1800" dirty="0"/>
          </a:p>
        </p:txBody>
      </p:sp>
      <p:sp>
        <p:nvSpPr>
          <p:cNvPr id="23" name="text-227"/>
          <p:cNvSpPr txBox="1"/>
          <p:nvPr/>
        </p:nvSpPr>
        <p:spPr>
          <a:xfrm>
            <a:off x="1554480" y="431596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「npm test が exit 0」</a:t>
            </a:r>
            <a:endParaRPr lang="ja-JP" sz="1500" dirty="0"/>
          </a:p>
          <a:p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が実行 → 結果が会話に出る</a:t>
            </a:r>
            <a:endParaRPr lang="ja-JP" sz="1500" dirty="0"/>
          </a:p>
        </p:txBody>
      </p:sp>
      <p:sp>
        <p:nvSpPr>
          <p:cNvPr id="24" name="card-228"/>
          <p:cNvSpPr/>
          <p:nvPr/>
        </p:nvSpPr>
        <p:spPr>
          <a:xfrm>
            <a:off x="6202375" y="3703320"/>
            <a:ext cx="544068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5" name="icon-bg-229"/>
          <p:cNvSpPr/>
          <p:nvPr/>
        </p:nvSpPr>
        <p:spPr>
          <a:xfrm>
            <a:off x="6430975" y="3931920"/>
            <a:ext cx="594360" cy="5943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6" name="icon-23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1452" y="4092397"/>
            <a:ext cx="273406" cy="273406"/>
          </a:xfrm>
          <a:prstGeom prst="rect">
            <a:avLst/>
          </a:prstGeom>
        </p:spPr>
      </p:pic>
      <p:sp>
        <p:nvSpPr>
          <p:cNvPr id="27" name="text-231"/>
          <p:cNvSpPr txBox="1"/>
          <p:nvPr/>
        </p:nvSpPr>
        <p:spPr>
          <a:xfrm>
            <a:off x="7208215" y="3886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判定できない条件</a:t>
            </a:r>
            <a:endParaRPr lang="ja-JP" sz="1800" dirty="0"/>
          </a:p>
        </p:txBody>
      </p:sp>
      <p:sp>
        <p:nvSpPr>
          <p:cNvPr id="28" name="text-232"/>
          <p:cNvSpPr txBox="1"/>
          <p:nvPr/>
        </p:nvSpPr>
        <p:spPr>
          <a:xfrm>
            <a:off x="7208215" y="431596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「コードがきれいになった」</a:t>
            </a:r>
            <a:endParaRPr lang="ja-JP" sz="1500" dirty="0"/>
          </a:p>
          <a:p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測れない。会話に証拠が出ない</a:t>
            </a:r>
            <a:endParaRPr lang="ja-JP" sz="1500" dirty="0"/>
          </a:p>
        </p:txBody>
      </p:sp>
      <p:sp>
        <p:nvSpPr>
          <p:cNvPr id="29" name="card-233"/>
          <p:cNvSpPr/>
          <p:nvPr/>
        </p:nvSpPr>
        <p:spPr>
          <a:xfrm>
            <a:off x="548640" y="5532120"/>
            <a:ext cx="11094415" cy="640080"/>
          </a:xfrm>
          <a:prstGeom prst="roundRect">
            <a:avLst>
              <a:gd name="adj" fmla="val 17143"/>
            </a:avLst>
          </a:prstGeom>
          <a:solidFill>
            <a:schemeClr val="accent6"/>
          </a:solidFill>
          <a:ln/>
        </p:spPr>
      </p:sp>
      <p:sp>
        <p:nvSpPr>
          <p:cNvPr id="30" name="text-234"/>
          <p:cNvSpPr txBox="1"/>
          <p:nvPr/>
        </p:nvSpPr>
        <p:spPr>
          <a:xfrm>
            <a:off x="822960" y="553212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注意:実行せず「通った」と言うだけでも、審判は信じうる → 条件に「実行して出力を示す」と書く</a:t>
            </a:r>
            <a:endParaRPr lang="ja-JP" sz="1600" dirty="0"/>
          </a:p>
        </p:txBody>
      </p:sp>
      <p:sp>
        <p:nvSpPr>
          <p:cNvPr id="31" name="text-235"/>
          <p:cNvSpPr txBox="1"/>
          <p:nvPr/>
        </p:nvSpPr>
        <p:spPr>
          <a:xfrm>
            <a:off x="548640" y="63550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00" dirty="0">
                <a:solidFill>
                  <a:schemeClr val="accent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Claude Code docs「Keep Claude working toward a goal」(/goal)</a:t>
            </a:r>
            <a:endParaRPr lang="ja-JP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ll-236"/>
          <p:cNvSpPr/>
          <p:nvPr/>
        </p:nvSpPr>
        <p:spPr>
          <a:xfrm>
            <a:off x="548640" y="365760"/>
            <a:ext cx="1673352" cy="310896"/>
          </a:xfrm>
          <a:prstGeom prst="roundRect">
            <a:avLst>
              <a:gd name="adj" fmla="val 4705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/goal</a:t>
            </a:r>
            <a:endParaRPr lang="ja-JP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4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良い条件の書き方 — 成功条件・制約・上限</a:t>
            </a:r>
            <a:endParaRPr lang="ja-JP" sz="3400" dirty="0"/>
          </a:p>
        </p:txBody>
      </p:sp>
      <p:sp>
        <p:nvSpPr>
          <p:cNvPr id="5" name="card-237"/>
          <p:cNvSpPr/>
          <p:nvPr/>
        </p:nvSpPr>
        <p:spPr>
          <a:xfrm>
            <a:off x="548640" y="1783080"/>
            <a:ext cx="356616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6" name="badge-238"/>
          <p:cNvSpPr/>
          <p:nvPr/>
        </p:nvSpPr>
        <p:spPr>
          <a:xfrm>
            <a:off x="731520" y="1920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-239"/>
          <p:cNvSpPr txBox="1"/>
          <p:nvPr/>
        </p:nvSpPr>
        <p:spPr>
          <a:xfrm>
            <a:off x="1371600" y="19385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9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成功条件</a:t>
            </a:r>
            <a:endParaRPr lang="ja-JP" sz="1900" dirty="0"/>
          </a:p>
        </p:txBody>
      </p:sp>
      <p:sp>
        <p:nvSpPr>
          <p:cNvPr id="8" name="text-240"/>
          <p:cNvSpPr txBox="1"/>
          <p:nvPr/>
        </p:nvSpPr>
        <p:spPr>
          <a:xfrm>
            <a:off x="777240" y="24871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300" dirty="0">
                <a:solidFill>
                  <a:schemeClr val="accent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何をもって完了か?</a:t>
            </a:r>
            <a:endParaRPr lang="ja-JP" sz="1300" dirty="0"/>
          </a:p>
          <a:p>
            <a:pPr indent="0" marL="0">
              <a:buNone/>
            </a:pPr>
            <a:r>
              <a:rPr lang="ja-JP" altLang="en-US" sz="1300" dirty="0">
                <a:solidFill>
                  <a:schemeClr val="accent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(測れる終点 + 確認方法)</a:t>
            </a:r>
            <a:endParaRPr lang="ja-JP" sz="1300" dirty="0"/>
          </a:p>
        </p:txBody>
      </p:sp>
      <p:sp>
        <p:nvSpPr>
          <p:cNvPr id="9" name="text-241"/>
          <p:cNvSpPr txBox="1"/>
          <p:nvPr/>
        </p:nvSpPr>
        <p:spPr>
          <a:xfrm>
            <a:off x="777240" y="29718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「npm test が exit 0 で終わる」</a:t>
            </a:r>
            <a:endParaRPr lang="ja-JP" sz="1400" dirty="0"/>
          </a:p>
        </p:txBody>
      </p:sp>
      <p:sp>
        <p:nvSpPr>
          <p:cNvPr id="10" name="text-242"/>
          <p:cNvSpPr txBox="1"/>
          <p:nvPr/>
        </p:nvSpPr>
        <p:spPr>
          <a:xfrm>
            <a:off x="777240" y="340156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300" b="1" dirty="0">
                <a:solidFill>
                  <a:schemeClr val="accent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ないと:</a:t>
            </a:r>
            <a:pPr indent="0" marL="0">
              <a:buNone/>
            </a:pPr>
            <a:r>
              <a:rPr lang="ja-JP" altLang="en-US" sz="13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審判が判定できず、止まらないか誤判定する</a:t>
            </a:r>
            <a:endParaRPr lang="ja-JP" sz="1300" dirty="0"/>
          </a:p>
        </p:txBody>
      </p:sp>
      <p:sp>
        <p:nvSpPr>
          <p:cNvPr id="11" name="card-243"/>
          <p:cNvSpPr/>
          <p:nvPr/>
        </p:nvSpPr>
        <p:spPr>
          <a:xfrm>
            <a:off x="4313225" y="1783080"/>
            <a:ext cx="356616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2" name="badge-244"/>
          <p:cNvSpPr/>
          <p:nvPr/>
        </p:nvSpPr>
        <p:spPr>
          <a:xfrm>
            <a:off x="4496105" y="1920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-245"/>
          <p:cNvSpPr txBox="1"/>
          <p:nvPr/>
        </p:nvSpPr>
        <p:spPr>
          <a:xfrm>
            <a:off x="5136185" y="19385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9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制約</a:t>
            </a:r>
            <a:endParaRPr lang="ja-JP" sz="1900" dirty="0"/>
          </a:p>
        </p:txBody>
      </p:sp>
      <p:sp>
        <p:nvSpPr>
          <p:cNvPr id="14" name="text-246"/>
          <p:cNvSpPr txBox="1"/>
          <p:nvPr/>
        </p:nvSpPr>
        <p:spPr>
          <a:xfrm>
            <a:off x="4541825" y="24871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300" dirty="0">
                <a:solidFill>
                  <a:schemeClr val="accent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完了までに、何を触らないか?</a:t>
            </a:r>
            <a:endParaRPr lang="ja-JP" sz="1300" dirty="0"/>
          </a:p>
        </p:txBody>
      </p:sp>
      <p:sp>
        <p:nvSpPr>
          <p:cNvPr id="15" name="text-247"/>
          <p:cNvSpPr txBox="1"/>
          <p:nvPr/>
        </p:nvSpPr>
        <p:spPr>
          <a:xfrm>
            <a:off x="4541825" y="29718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「他のテストファイルは変更しない」</a:t>
            </a:r>
            <a:endParaRPr lang="ja-JP" sz="1400" dirty="0"/>
          </a:p>
        </p:txBody>
      </p:sp>
      <p:sp>
        <p:nvSpPr>
          <p:cNvPr id="16" name="text-248"/>
          <p:cNvSpPr txBox="1"/>
          <p:nvPr/>
        </p:nvSpPr>
        <p:spPr>
          <a:xfrm>
            <a:off x="4541825" y="340156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300" b="1" dirty="0">
                <a:solidFill>
                  <a:schemeClr val="accent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ないと:</a:t>
            </a:r>
            <a:pPr indent="0" marL="0">
              <a:buNone/>
            </a:pPr>
            <a:r>
              <a:rPr lang="ja-JP" altLang="en-US" sz="13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条件だけ満たす抜け道が通る(例:テストを消す)</a:t>
            </a:r>
            <a:endParaRPr lang="ja-JP" sz="1300" dirty="0"/>
          </a:p>
        </p:txBody>
      </p:sp>
      <p:sp>
        <p:nvSpPr>
          <p:cNvPr id="17" name="card-249"/>
          <p:cNvSpPr/>
          <p:nvPr/>
        </p:nvSpPr>
        <p:spPr>
          <a:xfrm>
            <a:off x="8077810" y="1783080"/>
            <a:ext cx="356616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8" name="badge-250"/>
          <p:cNvSpPr/>
          <p:nvPr/>
        </p:nvSpPr>
        <p:spPr>
          <a:xfrm>
            <a:off x="8260690" y="19202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-251"/>
          <p:cNvSpPr txBox="1"/>
          <p:nvPr/>
        </p:nvSpPr>
        <p:spPr>
          <a:xfrm>
            <a:off x="8900770" y="19385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9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上限</a:t>
            </a:r>
            <a:endParaRPr lang="ja-JP" sz="1900" dirty="0"/>
          </a:p>
        </p:txBody>
      </p:sp>
      <p:sp>
        <p:nvSpPr>
          <p:cNvPr id="20" name="text-252"/>
          <p:cNvSpPr txBox="1"/>
          <p:nvPr/>
        </p:nvSpPr>
        <p:spPr>
          <a:xfrm>
            <a:off x="8306410" y="24871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300" dirty="0">
                <a:solidFill>
                  <a:schemeClr val="accent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いつ諦めるか?</a:t>
            </a:r>
            <a:endParaRPr lang="ja-JP" sz="1300" dirty="0"/>
          </a:p>
        </p:txBody>
      </p:sp>
      <p:sp>
        <p:nvSpPr>
          <p:cNvPr id="21" name="text-253"/>
          <p:cNvSpPr txBox="1"/>
          <p:nvPr/>
        </p:nvSpPr>
        <p:spPr>
          <a:xfrm>
            <a:off x="8306410" y="29718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「…または 20 ターンで停止」</a:t>
            </a:r>
            <a:endParaRPr lang="ja-JP" sz="1400" dirty="0"/>
          </a:p>
        </p:txBody>
      </p:sp>
      <p:sp>
        <p:nvSpPr>
          <p:cNvPr id="22" name="text-254"/>
          <p:cNvSpPr txBox="1"/>
          <p:nvPr/>
        </p:nvSpPr>
        <p:spPr>
          <a:xfrm>
            <a:off x="8306410" y="340156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300" b="1" dirty="0">
                <a:solidFill>
                  <a:schemeClr val="accent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ないと:</a:t>
            </a:r>
            <a:pPr indent="0" marL="0">
              <a:buNone/>
            </a:pPr>
            <a:r>
              <a:rPr lang="ja-JP" altLang="en-US" sz="13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達成できないとき、token を使い続ける</a:t>
            </a:r>
            <a:endParaRPr lang="ja-JP" sz="1300" dirty="0"/>
          </a:p>
        </p:txBody>
      </p:sp>
      <p:sp>
        <p:nvSpPr>
          <p:cNvPr id="23" name="card-255"/>
          <p:cNvSpPr/>
          <p:nvPr/>
        </p:nvSpPr>
        <p:spPr>
          <a:xfrm>
            <a:off x="548640" y="4297680"/>
            <a:ext cx="39319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24" name="pill-256"/>
          <p:cNvSpPr/>
          <p:nvPr/>
        </p:nvSpPr>
        <p:spPr>
          <a:xfrm>
            <a:off x="777240" y="4416552"/>
            <a:ext cx="868680" cy="310896"/>
          </a:xfrm>
          <a:prstGeom prst="roundRect">
            <a:avLst>
              <a:gd name="adj" fmla="val 47059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悪い例</a:t>
            </a:r>
            <a:endParaRPr lang="ja-JP" sz="1200" dirty="0"/>
          </a:p>
        </p:txBody>
      </p:sp>
      <p:sp>
        <p:nvSpPr>
          <p:cNvPr id="25" name="text-257"/>
          <p:cNvSpPr txBox="1"/>
          <p:nvPr/>
        </p:nvSpPr>
        <p:spPr>
          <a:xfrm>
            <a:off x="777240" y="4846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認証まわりを良くして</a:t>
            </a:r>
            <a:endParaRPr lang="ja-JP" sz="1800" dirty="0"/>
          </a:p>
        </p:txBody>
      </p:sp>
      <p:sp>
        <p:nvSpPr>
          <p:cNvPr id="26" name="text-258"/>
          <p:cNvSpPr txBox="1"/>
          <p:nvPr/>
        </p:nvSpPr>
        <p:spPr>
          <a:xfrm>
            <a:off x="777240" y="5257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500" dirty="0">
                <a:solidFill>
                  <a:schemeClr val="accent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審判が判定できない</a:t>
            </a:r>
            <a:endParaRPr lang="ja-JP" sz="1500" dirty="0"/>
          </a:p>
        </p:txBody>
      </p:sp>
      <p:sp>
        <p:nvSpPr>
          <p:cNvPr id="27" name="card-259"/>
          <p:cNvSpPr/>
          <p:nvPr/>
        </p:nvSpPr>
        <p:spPr>
          <a:xfrm>
            <a:off x="4663440" y="4297680"/>
            <a:ext cx="6979615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/>
        </p:spPr>
      </p:sp>
      <p:sp>
        <p:nvSpPr>
          <p:cNvPr id="28" name="pill-260"/>
          <p:cNvSpPr/>
          <p:nvPr/>
        </p:nvSpPr>
        <p:spPr>
          <a:xfrm>
            <a:off x="4892040" y="4416552"/>
            <a:ext cx="868680" cy="310896"/>
          </a:xfrm>
          <a:prstGeom prst="roundRect">
            <a:avLst>
              <a:gd name="adj" fmla="val 47059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良い例</a:t>
            </a:r>
            <a:endParaRPr lang="ja-JP" sz="1200" dirty="0"/>
          </a:p>
        </p:txBody>
      </p:sp>
      <p:sp>
        <p:nvSpPr>
          <p:cNvPr id="29" name="text-261"/>
          <p:cNvSpPr txBox="1"/>
          <p:nvPr/>
        </p:nvSpPr>
        <p:spPr>
          <a:xfrm>
            <a:off x="4892040" y="484632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6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test/auth の全テストが通る(npm test が exit 0)・lint がクリーン。</a:t>
            </a:r>
            <a:endParaRPr lang="ja-JP" sz="1600" dirty="0"/>
          </a:p>
          <a:p>
            <a:pPr indent="0" marL="0">
              <a:buNone/>
            </a:pPr>
            <a:r>
              <a:rPr lang="ja-JP" altLang="en-US" sz="16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他のテストファイルは変更しない。20 ターンで停止</a:t>
            </a:r>
            <a:endParaRPr lang="ja-JP" sz="1600" dirty="0"/>
          </a:p>
        </p:txBody>
      </p:sp>
      <p:sp>
        <p:nvSpPr>
          <p:cNvPr id="30" name="text-262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accent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上限は条件文の中に書く。条件は最大 4,000 文字</a:t>
            </a:r>
            <a:endParaRPr lang="ja-JP" sz="1400" dirty="0"/>
          </a:p>
        </p:txBody>
      </p:sp>
      <p:sp>
        <p:nvSpPr>
          <p:cNvPr id="31" name="text-263"/>
          <p:cNvSpPr txBox="1"/>
          <p:nvPr/>
        </p:nvSpPr>
        <p:spPr>
          <a:xfrm>
            <a:off x="548640" y="63550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00" dirty="0">
                <a:solidFill>
                  <a:schemeClr val="accent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Claude Code docs「Keep Claude working toward a goal」(/goal)</a:t>
            </a:r>
            <a:endParaRPr lang="ja-JP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ll-264"/>
          <p:cNvSpPr/>
          <p:nvPr/>
        </p:nvSpPr>
        <p:spPr>
          <a:xfrm>
            <a:off x="548640" y="365760"/>
            <a:ext cx="1673352" cy="310896"/>
          </a:xfrm>
          <a:prstGeom prst="roundRect">
            <a:avLst>
              <a:gd name="adj" fmla="val 4705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/goal</a:t>
            </a:r>
            <a:endParaRPr lang="ja-JP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4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条件の優先順位 — 土台・柵・安全網</a:t>
            </a:r>
            <a:endParaRPr lang="ja-JP" sz="3400" dirty="0"/>
          </a:p>
        </p:txBody>
      </p:sp>
      <p:sp>
        <p:nvSpPr>
          <p:cNvPr id="5" name="card-265"/>
          <p:cNvSpPr/>
          <p:nvPr/>
        </p:nvSpPr>
        <p:spPr>
          <a:xfrm>
            <a:off x="548640" y="1783080"/>
            <a:ext cx="5029200" cy="370332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6" name="text-266"/>
          <p:cNvSpPr txBox="1"/>
          <p:nvPr/>
        </p:nvSpPr>
        <p:spPr>
          <a:xfrm>
            <a:off x="822960" y="19019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成功条件だけだと?</a:t>
            </a:r>
            <a:endParaRPr lang="ja-JP" sz="1800" dirty="0"/>
          </a:p>
        </p:txBody>
      </p:sp>
      <p:sp>
        <p:nvSpPr>
          <p:cNvPr id="7" name="card-267"/>
          <p:cNvSpPr/>
          <p:nvPr/>
        </p:nvSpPr>
        <p:spPr>
          <a:xfrm>
            <a:off x="822960" y="2377440"/>
            <a:ext cx="4480560" cy="640080"/>
          </a:xfrm>
          <a:prstGeom prst="roundRect">
            <a:avLst>
              <a:gd name="adj" fmla="val 17143"/>
            </a:avLst>
          </a:prstGeom>
          <a:solidFill>
            <a:schemeClr val="bg1"/>
          </a:solidFill>
          <a:ln/>
        </p:spPr>
      </p:sp>
      <p:sp>
        <p:nvSpPr>
          <p:cNvPr id="8" name="text-268"/>
          <p:cNvSpPr txBox="1"/>
          <p:nvPr/>
        </p:nvSpPr>
        <p:spPr>
          <a:xfrm>
            <a:off x="1005840" y="23774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条件:「npm test が exit 0」</a:t>
            </a:r>
            <a:endParaRPr lang="ja-JP" sz="1500" dirty="0"/>
          </a:p>
        </p:txBody>
      </p:sp>
      <p:sp>
        <p:nvSpPr>
          <p:cNvPr id="9" name="arrow-269"/>
          <p:cNvSpPr/>
          <p:nvPr/>
        </p:nvSpPr>
        <p:spPr>
          <a:xfrm>
            <a:off x="3063240" y="3044952"/>
            <a:ext cx="256032" cy="274320"/>
          </a:xfrm>
          <a:prstGeom prst="downArrow">
            <a:avLst/>
          </a:prstGeom>
          <a:solidFill>
            <a:schemeClr val="accent3"/>
          </a:solidFill>
          <a:ln/>
        </p:spPr>
      </p:sp>
      <p:sp>
        <p:nvSpPr>
          <p:cNvPr id="10" name="card-270"/>
          <p:cNvSpPr/>
          <p:nvPr/>
        </p:nvSpPr>
        <p:spPr>
          <a:xfrm>
            <a:off x="822960" y="3364992"/>
            <a:ext cx="4480560" cy="868680"/>
          </a:xfrm>
          <a:prstGeom prst="roundRect">
            <a:avLst>
              <a:gd name="adj" fmla="val 12632"/>
            </a:avLst>
          </a:prstGeom>
          <a:solidFill>
            <a:schemeClr val="accent6"/>
          </a:solidFill>
          <a:ln/>
        </p:spPr>
      </p:sp>
      <p:sp>
        <p:nvSpPr>
          <p:cNvPr id="11" name="text-271"/>
          <p:cNvSpPr txBox="1"/>
          <p:nvPr/>
        </p:nvSpPr>
        <p:spPr>
          <a:xfrm>
            <a:off x="1005840" y="3364992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の抜け道</a:t>
            </a:r>
            <a:endParaRPr lang="ja-JP" sz="1400" dirty="0"/>
          </a:p>
          <a:p>
            <a:pPr indent="0" marL="0">
              <a:buNone/>
            </a:pPr>
            <a:r>
              <a:rPr lang="ja-JP" altLang="en-US" sz="14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テストを削除する/常に通るよう書き換える</a:t>
            </a:r>
            <a:endParaRPr lang="ja-JP" sz="1400" dirty="0"/>
          </a:p>
        </p:txBody>
      </p:sp>
      <p:sp>
        <p:nvSpPr>
          <p:cNvPr id="12" name="arrow-272"/>
          <p:cNvSpPr/>
          <p:nvPr/>
        </p:nvSpPr>
        <p:spPr>
          <a:xfrm>
            <a:off x="3063240" y="4261104"/>
            <a:ext cx="256032" cy="274320"/>
          </a:xfrm>
          <a:prstGeom prst="downArrow">
            <a:avLst/>
          </a:prstGeom>
          <a:solidFill>
            <a:schemeClr val="accent3"/>
          </a:solidFill>
          <a:ln/>
        </p:spPr>
      </p:sp>
      <p:sp>
        <p:nvSpPr>
          <p:cNvPr id="13" name="card-273"/>
          <p:cNvSpPr/>
          <p:nvPr/>
        </p:nvSpPr>
        <p:spPr>
          <a:xfrm>
            <a:off x="822960" y="4572000"/>
            <a:ext cx="4480560" cy="457200"/>
          </a:xfrm>
          <a:prstGeom prst="roundRect">
            <a:avLst>
              <a:gd name="adj" fmla="val 24000"/>
            </a:avLst>
          </a:prstGeom>
          <a:solidFill>
            <a:schemeClr val="tx2"/>
          </a:solidFill>
          <a:ln/>
        </p:spPr>
      </p:sp>
      <p:sp>
        <p:nvSpPr>
          <p:cNvPr id="14" name="text-274"/>
          <p:cNvSpPr txBox="1"/>
          <p:nvPr/>
        </p:nvSpPr>
        <p:spPr>
          <a:xfrm>
            <a:off x="1005840" y="4572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結果:exit 0 だが、価値がない</a:t>
            </a:r>
            <a:endParaRPr lang="ja-JP" sz="1400" dirty="0"/>
          </a:p>
        </p:txBody>
      </p:sp>
      <p:sp>
        <p:nvSpPr>
          <p:cNvPr id="15" name="text-275"/>
          <p:cNvSpPr txBox="1"/>
          <p:nvPr/>
        </p:nvSpPr>
        <p:spPr>
          <a:xfrm>
            <a:off x="822960" y="51206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200" b="1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防ぐのは「制約」(他のテストファイルは変更しない)</a:t>
            </a:r>
            <a:endParaRPr lang="ja-JP" sz="1200" dirty="0"/>
          </a:p>
        </p:txBody>
      </p:sp>
      <p:sp>
        <p:nvSpPr>
          <p:cNvPr id="16" name="card-276"/>
          <p:cNvSpPr/>
          <p:nvPr/>
        </p:nvSpPr>
        <p:spPr>
          <a:xfrm>
            <a:off x="5760720" y="1783080"/>
            <a:ext cx="5882335" cy="3703320"/>
          </a:xfrm>
          <a:prstGeom prst="roundRect">
            <a:avLst>
              <a:gd name="adj" fmla="val 2963"/>
            </a:avLst>
          </a:prstGeom>
          <a:solidFill>
            <a:schemeClr val="tx1"/>
          </a:solidFill>
          <a:ln/>
        </p:spPr>
      </p:sp>
      <p:sp>
        <p:nvSpPr>
          <p:cNvPr id="17" name="text-277"/>
          <p:cNvSpPr txBox="1"/>
          <p:nvPr/>
        </p:nvSpPr>
        <p:spPr>
          <a:xfrm>
            <a:off x="6035040" y="19019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accent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優先順位</a:t>
            </a:r>
            <a:endParaRPr lang="ja-JP" sz="1800" dirty="0"/>
          </a:p>
        </p:txBody>
      </p:sp>
      <p:sp>
        <p:nvSpPr>
          <p:cNvPr id="18" name="badge-278"/>
          <p:cNvSpPr/>
          <p:nvPr/>
        </p:nvSpPr>
        <p:spPr>
          <a:xfrm>
            <a:off x="6035040" y="2459736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-279"/>
          <p:cNvSpPr txBox="1"/>
          <p:nvPr/>
        </p:nvSpPr>
        <p:spPr>
          <a:xfrm>
            <a:off x="6629400" y="2423160"/>
            <a:ext cx="4785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土台:成功条件(必須・最重要)</a:t>
            </a:r>
            <a:endParaRPr lang="ja-JP" sz="1600" dirty="0"/>
          </a:p>
        </p:txBody>
      </p:sp>
      <p:sp>
        <p:nvSpPr>
          <p:cNvPr id="20" name="text-280"/>
          <p:cNvSpPr txBox="1"/>
          <p:nvPr/>
        </p:nvSpPr>
        <p:spPr>
          <a:xfrm>
            <a:off x="6629400" y="2807208"/>
            <a:ext cx="4739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300" dirty="0">
                <a:solidFill>
                  <a:schemeClr val="bg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測れる終点と確認方法がないと、審判は感覚で判定する</a:t>
            </a:r>
            <a:endParaRPr lang="ja-JP" sz="1300" dirty="0"/>
          </a:p>
        </p:txBody>
      </p:sp>
      <p:sp>
        <p:nvSpPr>
          <p:cNvPr id="21" name="badge-281"/>
          <p:cNvSpPr/>
          <p:nvPr/>
        </p:nvSpPr>
        <p:spPr>
          <a:xfrm>
            <a:off x="6035040" y="3483864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-282"/>
          <p:cNvSpPr txBox="1"/>
          <p:nvPr/>
        </p:nvSpPr>
        <p:spPr>
          <a:xfrm>
            <a:off x="6629400" y="3447288"/>
            <a:ext cx="4785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柵:制約(抜け道を防ぐ)</a:t>
            </a:r>
            <a:endParaRPr lang="ja-JP" sz="1600" dirty="0"/>
          </a:p>
        </p:txBody>
      </p:sp>
      <p:sp>
        <p:nvSpPr>
          <p:cNvPr id="23" name="text-283"/>
          <p:cNvSpPr txBox="1"/>
          <p:nvPr/>
        </p:nvSpPr>
        <p:spPr>
          <a:xfrm>
            <a:off x="6629400" y="3831336"/>
            <a:ext cx="4739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300" dirty="0">
                <a:solidFill>
                  <a:schemeClr val="bg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終点が手抜きで達成しやすいほど重要になる</a:t>
            </a:r>
            <a:endParaRPr lang="ja-JP" sz="1300" dirty="0"/>
          </a:p>
        </p:txBody>
      </p:sp>
      <p:sp>
        <p:nvSpPr>
          <p:cNvPr id="24" name="badge-284"/>
          <p:cNvSpPr/>
          <p:nvPr/>
        </p:nvSpPr>
        <p:spPr>
          <a:xfrm>
            <a:off x="6035040" y="450799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-285"/>
          <p:cNvSpPr txBox="1"/>
          <p:nvPr/>
        </p:nvSpPr>
        <p:spPr>
          <a:xfrm>
            <a:off x="6629400" y="4471416"/>
            <a:ext cx="4785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安全網:上限(損失の上限を決める)</a:t>
            </a:r>
            <a:endParaRPr lang="ja-JP" sz="1600" dirty="0"/>
          </a:p>
        </p:txBody>
      </p:sp>
      <p:sp>
        <p:nvSpPr>
          <p:cNvPr id="26" name="text-286"/>
          <p:cNvSpPr txBox="1"/>
          <p:nvPr/>
        </p:nvSpPr>
        <p:spPr>
          <a:xfrm>
            <a:off x="6629400" y="4855464"/>
            <a:ext cx="4739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300" dirty="0">
                <a:solidFill>
                  <a:schemeClr val="bg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品質は決めない。無人(claude -p・就寝中)では、②と同格</a:t>
            </a:r>
            <a:endParaRPr lang="ja-JP" sz="1300" dirty="0"/>
          </a:p>
        </p:txBody>
      </p:sp>
      <p:sp>
        <p:nvSpPr>
          <p:cNvPr id="27" name="card-287"/>
          <p:cNvSpPr/>
          <p:nvPr/>
        </p:nvSpPr>
        <p:spPr>
          <a:xfrm>
            <a:off x="548640" y="5596128"/>
            <a:ext cx="11094415" cy="594360"/>
          </a:xfrm>
          <a:prstGeom prst="roundRect">
            <a:avLst>
              <a:gd name="adj" fmla="val 18462"/>
            </a:avLst>
          </a:prstGeom>
          <a:solidFill>
            <a:schemeClr val="accent5"/>
          </a:solidFill>
          <a:ln/>
        </p:spPr>
      </p:sp>
      <p:sp>
        <p:nvSpPr>
          <p:cNvPr id="28" name="text-288"/>
          <p:cNvSpPr txBox="1"/>
          <p:nvPr/>
        </p:nvSpPr>
        <p:spPr>
          <a:xfrm>
            <a:off x="822960" y="559612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7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最も厳しいのは、実行できる検査(テスト・lint・build)を条件に入れること</a:t>
            </a:r>
            <a:endParaRPr lang="ja-JP" sz="1700" dirty="0"/>
          </a:p>
        </p:txBody>
      </p:sp>
      <p:sp>
        <p:nvSpPr>
          <p:cNvPr id="29" name="text-289"/>
          <p:cNvSpPr txBox="1"/>
          <p:nvPr/>
        </p:nvSpPr>
        <p:spPr>
          <a:xfrm>
            <a:off x="548640" y="63550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00" dirty="0">
                <a:solidFill>
                  <a:schemeClr val="accent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Claude Code docs「Keep Claude working toward a goal」(/goal)</a:t>
            </a:r>
            <a:endParaRPr lang="ja-JP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ll-290"/>
          <p:cNvSpPr/>
          <p:nvPr/>
        </p:nvSpPr>
        <p:spPr>
          <a:xfrm>
            <a:off x="548640" y="365760"/>
            <a:ext cx="1673352" cy="310896"/>
          </a:xfrm>
          <a:prstGeom prst="roundRect">
            <a:avLst>
              <a:gd name="adj" fmla="val 4705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/goal</a:t>
            </a:r>
            <a:endParaRPr lang="ja-JP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4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使いどころ — 終わる作業は /goal、見続ける作業は /loop</a:t>
            </a:r>
            <a:endParaRPr lang="ja-JP" sz="3400" dirty="0"/>
          </a:p>
        </p:txBody>
      </p:sp>
      <p:sp>
        <p:nvSpPr>
          <p:cNvPr id="5" name="card-291"/>
          <p:cNvSpPr/>
          <p:nvPr/>
        </p:nvSpPr>
        <p:spPr>
          <a:xfrm>
            <a:off x="548640" y="1783080"/>
            <a:ext cx="5440680" cy="36576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/>
        </p:spPr>
      </p:sp>
      <p:sp>
        <p:nvSpPr>
          <p:cNvPr id="6" name="pill-292"/>
          <p:cNvSpPr/>
          <p:nvPr/>
        </p:nvSpPr>
        <p:spPr>
          <a:xfrm>
            <a:off x="777240" y="1965960"/>
            <a:ext cx="1280160" cy="384048"/>
          </a:xfrm>
          <a:prstGeom prst="roundRect">
            <a:avLst>
              <a:gd name="adj" fmla="val 3809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/goal</a:t>
            </a:r>
            <a:endParaRPr lang="ja-JP" sz="1600" dirty="0"/>
          </a:p>
        </p:txBody>
      </p:sp>
      <p:sp>
        <p:nvSpPr>
          <p:cNvPr id="7" name="text-293"/>
          <p:cNvSpPr txBox="1"/>
          <p:nvPr/>
        </p:nvSpPr>
        <p:spPr>
          <a:xfrm>
            <a:off x="2240280" y="19659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終わる作業 — 条件が満たされるまで</a:t>
            </a:r>
            <a:endParaRPr lang="ja-JP" sz="1500" dirty="0"/>
          </a:p>
        </p:txBody>
      </p:sp>
      <p:sp>
        <p:nvSpPr>
          <p:cNvPr id="8" name="text-294"/>
          <p:cNvSpPr txBox="1"/>
          <p:nvPr/>
        </p:nvSpPr>
        <p:spPr>
          <a:xfrm>
            <a:off x="822960" y="2560320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ja-JP" altLang="en-US" sz="15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テストが全部通る</a:t>
            </a:r>
            <a:endParaRPr lang="ja-JP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ja-JP" altLang="en-US" sz="15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旧 API からの移行が完了する</a:t>
            </a:r>
            <a:endParaRPr lang="ja-JP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ja-JP" altLang="en-US" sz="15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lint・型エラーが 0 になる</a:t>
            </a:r>
            <a:endParaRPr lang="ja-JP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ja-JP" altLang="en-US" sz="15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キューが空になる</a:t>
            </a:r>
            <a:endParaRPr lang="ja-JP" sz="1500" dirty="0"/>
          </a:p>
        </p:txBody>
      </p:sp>
      <p:sp>
        <p:nvSpPr>
          <p:cNvPr id="9" name="text-295"/>
          <p:cNvSpPr txBox="1"/>
          <p:nvPr/>
        </p:nvSpPr>
        <p:spPr>
          <a:xfrm>
            <a:off x="822960" y="45262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ja-JP" altLang="en-US" sz="14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次を始める:条件が未達のとき</a:t>
            </a:r>
            <a:endParaRPr lang="ja-JP" sz="1400" dirty="0"/>
          </a:p>
          <a:p>
            <a:pPr indent="0" marL="0">
              <a:spcAft>
                <a:spcPts val="400"/>
              </a:spcAft>
              <a:buNone/>
            </a:pPr>
            <a:r>
              <a:rPr lang="ja-JP" alt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判定:審判(別の小モデル)が行う</a:t>
            </a:r>
            <a:endParaRPr lang="ja-JP" sz="1400" dirty="0"/>
          </a:p>
        </p:txBody>
      </p:sp>
      <p:sp>
        <p:nvSpPr>
          <p:cNvPr id="10" name="card-296"/>
          <p:cNvSpPr/>
          <p:nvPr/>
        </p:nvSpPr>
        <p:spPr>
          <a:xfrm>
            <a:off x="6202375" y="1783080"/>
            <a:ext cx="5440680" cy="36576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/>
        </p:spPr>
      </p:sp>
      <p:sp>
        <p:nvSpPr>
          <p:cNvPr id="11" name="pill-297"/>
          <p:cNvSpPr/>
          <p:nvPr/>
        </p:nvSpPr>
        <p:spPr>
          <a:xfrm>
            <a:off x="6430975" y="1965960"/>
            <a:ext cx="1280160" cy="384048"/>
          </a:xfrm>
          <a:prstGeom prst="roundRect">
            <a:avLst>
              <a:gd name="adj" fmla="val 38095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6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/loop</a:t>
            </a:r>
            <a:endParaRPr lang="ja-JP" sz="1600" dirty="0"/>
          </a:p>
        </p:txBody>
      </p:sp>
      <p:sp>
        <p:nvSpPr>
          <p:cNvPr id="12" name="text-298"/>
          <p:cNvSpPr txBox="1"/>
          <p:nvPr/>
        </p:nvSpPr>
        <p:spPr>
          <a:xfrm>
            <a:off x="7894015" y="19659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見続ける作業 — 時間が来たら再実行</a:t>
            </a:r>
            <a:endParaRPr lang="ja-JP" sz="1500" dirty="0"/>
          </a:p>
        </p:txBody>
      </p:sp>
      <p:sp>
        <p:nvSpPr>
          <p:cNvPr id="13" name="text-299"/>
          <p:cNvSpPr txBox="1"/>
          <p:nvPr/>
        </p:nvSpPr>
        <p:spPr>
          <a:xfrm>
            <a:off x="6476695" y="2560320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ja-JP" altLang="en-US" sz="15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デプロイの状況を 5 分ごとに確認</a:t>
            </a:r>
            <a:endParaRPr lang="ja-JP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ja-JP" altLang="en-US" sz="15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 の新しいコメントを定期的に確認</a:t>
            </a:r>
            <a:endParaRPr lang="ja-JP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ja-JP" altLang="en-US" sz="15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定期的なメンテナンス</a:t>
            </a:r>
            <a:endParaRPr lang="ja-JP" sz="1500" dirty="0"/>
          </a:p>
        </p:txBody>
      </p:sp>
      <p:sp>
        <p:nvSpPr>
          <p:cNvPr id="14" name="text-300"/>
          <p:cNvSpPr txBox="1"/>
          <p:nvPr/>
        </p:nvSpPr>
        <p:spPr>
          <a:xfrm>
            <a:off x="6476695" y="40690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300" dirty="0">
                <a:solidFill>
                  <a:schemeClr val="accent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ポーリング(polling)= 一定間隔で状態を確認する</a:t>
            </a:r>
            <a:endParaRPr lang="ja-JP" sz="1300" dirty="0"/>
          </a:p>
        </p:txBody>
      </p:sp>
      <p:sp>
        <p:nvSpPr>
          <p:cNvPr id="15" name="text-301"/>
          <p:cNvSpPr txBox="1"/>
          <p:nvPr/>
        </p:nvSpPr>
        <p:spPr>
          <a:xfrm>
            <a:off x="6476695" y="45262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ja-JP" altLang="en-US" sz="14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次を始める:時間が来たとき</a:t>
            </a:r>
            <a:endParaRPr lang="ja-JP" sz="1400" dirty="0"/>
          </a:p>
          <a:p>
            <a:pPr indent="0" marL="0">
              <a:spcAft>
                <a:spcPts val="400"/>
              </a:spcAft>
              <a:buNone/>
            </a:pPr>
            <a:r>
              <a:rPr lang="ja-JP" alt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判定:なし(同じことを繰り返す・7 日で期限切れ)</a:t>
            </a:r>
            <a:endParaRPr lang="ja-JP" sz="1400" dirty="0"/>
          </a:p>
        </p:txBody>
      </p:sp>
      <p:sp>
        <p:nvSpPr>
          <p:cNvPr id="16" name="card-302"/>
          <p:cNvSpPr/>
          <p:nvPr/>
        </p:nvSpPr>
        <p:spPr>
          <a:xfrm>
            <a:off x="548640" y="5577840"/>
            <a:ext cx="11094415" cy="594360"/>
          </a:xfrm>
          <a:prstGeom prst="roundRect">
            <a:avLst>
              <a:gd name="adj" fmla="val 18462"/>
            </a:avLst>
          </a:prstGeom>
          <a:solidFill>
            <a:schemeClr val="tx1"/>
          </a:solidFill>
          <a:ln/>
        </p:spPr>
      </p:sp>
      <p:sp>
        <p:nvSpPr>
          <p:cNvPr id="17" name="text-303"/>
          <p:cNvSpPr txBox="1"/>
          <p:nvPr/>
        </p:nvSpPr>
        <p:spPr>
          <a:xfrm>
            <a:off x="822960" y="557784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/goal は「いつ終わるか」を決め、/loop は「いつ再実行するか」を決める</a:t>
            </a:r>
            <a:endParaRPr lang="ja-JP" sz="1800" dirty="0"/>
          </a:p>
        </p:txBody>
      </p:sp>
      <p:sp>
        <p:nvSpPr>
          <p:cNvPr id="18" name="text-304"/>
          <p:cNvSpPr txBox="1"/>
          <p:nvPr/>
        </p:nvSpPr>
        <p:spPr>
          <a:xfrm>
            <a:off x="548640" y="63550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00" dirty="0">
                <a:solidFill>
                  <a:schemeClr val="accent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Claude Code docs「Keep Claude working toward a goal」・「Run prompts on a schedule」</a:t>
            </a:r>
            <a:endParaRPr lang="ja-JP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ll-305"/>
          <p:cNvSpPr/>
          <p:nvPr/>
        </p:nvSpPr>
        <p:spPr>
          <a:xfrm>
            <a:off x="548640" y="365760"/>
            <a:ext cx="1673352" cy="310896"/>
          </a:xfrm>
          <a:prstGeom prst="roundRect">
            <a:avLst>
              <a:gd name="adj" fmla="val 4705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/goal</a:t>
            </a:r>
            <a:endParaRPr lang="ja-JP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4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/goal 早見表 — 「終わり」を決める仕組み</a:t>
            </a:r>
            <a:endParaRPr lang="ja-JP" sz="3400" dirty="0"/>
          </a:p>
        </p:txBody>
      </p:sp>
      <p:sp>
        <p:nvSpPr>
          <p:cNvPr id="5" name="card-306"/>
          <p:cNvSpPr/>
          <p:nvPr/>
        </p:nvSpPr>
        <p:spPr>
          <a:xfrm>
            <a:off x="548640" y="1783080"/>
            <a:ext cx="384048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6" name="icon-bg-307"/>
          <p:cNvSpPr/>
          <p:nvPr/>
        </p:nvSpPr>
        <p:spPr>
          <a:xfrm>
            <a:off x="731520" y="19385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-30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2061972"/>
            <a:ext cx="210312" cy="210312"/>
          </a:xfrm>
          <a:prstGeom prst="rect">
            <a:avLst/>
          </a:prstGeom>
        </p:spPr>
      </p:pic>
      <p:sp>
        <p:nvSpPr>
          <p:cNvPr id="8" name="text-309"/>
          <p:cNvSpPr txBox="1"/>
          <p:nvPr/>
        </p:nvSpPr>
        <p:spPr>
          <a:xfrm>
            <a:off x="1325880" y="1965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概念</a:t>
            </a:r>
            <a:endParaRPr lang="ja-JP" sz="1800" dirty="0"/>
          </a:p>
        </p:txBody>
      </p:sp>
      <p:sp>
        <p:nvSpPr>
          <p:cNvPr id="9" name="text-310"/>
          <p:cNvSpPr txBox="1"/>
          <p:nvPr/>
        </p:nvSpPr>
        <p:spPr>
          <a:xfrm>
            <a:off x="777240" y="251460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ja-JP" altLang="en-US" sz="14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完了条件を 1 つ設定</a:t>
            </a:r>
            <a:endParaRPr lang="ja-JP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ja-JP" altLang="en-US" sz="14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満たされるまで自動で続行</a:t>
            </a:r>
            <a:endParaRPr lang="ja-JP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ja-JP" altLang="en-US" sz="14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毎ターン、別の小モデルが判定</a:t>
            </a:r>
            <a:endParaRPr lang="ja-JP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ja-JP" altLang="en-US" sz="14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session に 1 つ</a:t>
            </a:r>
            <a:endParaRPr lang="ja-JP" sz="1400" dirty="0"/>
          </a:p>
        </p:txBody>
      </p:sp>
      <p:sp>
        <p:nvSpPr>
          <p:cNvPr id="10" name="card-311"/>
          <p:cNvSpPr/>
          <p:nvPr/>
        </p:nvSpPr>
        <p:spPr>
          <a:xfrm>
            <a:off x="548640" y="4160520"/>
            <a:ext cx="38404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1" name="icon-bg-312"/>
          <p:cNvSpPr/>
          <p:nvPr/>
        </p:nvSpPr>
        <p:spPr>
          <a:xfrm>
            <a:off x="731520" y="431596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con-31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" y="4439412"/>
            <a:ext cx="210312" cy="210312"/>
          </a:xfrm>
          <a:prstGeom prst="rect">
            <a:avLst/>
          </a:prstGeom>
        </p:spPr>
      </p:pic>
      <p:sp>
        <p:nvSpPr>
          <p:cNvPr id="13" name="text-314"/>
          <p:cNvSpPr txBox="1"/>
          <p:nvPr/>
        </p:nvSpPr>
        <p:spPr>
          <a:xfrm>
            <a:off x="1325880" y="4343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向いている作業</a:t>
            </a:r>
            <a:endParaRPr lang="ja-JP" sz="1800" dirty="0"/>
          </a:p>
        </p:txBody>
      </p:sp>
      <p:sp>
        <p:nvSpPr>
          <p:cNvPr id="14" name="text-315"/>
          <p:cNvSpPr txBox="1"/>
          <p:nvPr/>
        </p:nvSpPr>
        <p:spPr>
          <a:xfrm>
            <a:off x="777240" y="48920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altLang="en-US" sz="14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テストが全部通る</a:t>
            </a:r>
            <a:endParaRPr lang="ja-JP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altLang="en-US" sz="14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旧 API からの移行が完了する</a:t>
            </a:r>
            <a:endParaRPr lang="ja-JP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altLang="en-US" sz="14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lint・型エラーが 0 になる</a:t>
            </a:r>
            <a:endParaRPr lang="ja-JP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altLang="en-US" sz="14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キューが空になる</a:t>
            </a:r>
            <a:endParaRPr lang="ja-JP" sz="1400" dirty="0"/>
          </a:p>
        </p:txBody>
      </p:sp>
      <p:sp>
        <p:nvSpPr>
          <p:cNvPr id="15" name="card-316"/>
          <p:cNvSpPr/>
          <p:nvPr/>
        </p:nvSpPr>
        <p:spPr>
          <a:xfrm>
            <a:off x="4572000" y="1783080"/>
            <a:ext cx="7071055" cy="2240280"/>
          </a:xfrm>
          <a:prstGeom prst="roundRect">
            <a:avLst>
              <a:gd name="adj" fmla="val 4898"/>
            </a:avLst>
          </a:prstGeom>
          <a:solidFill>
            <a:schemeClr val="tx1"/>
          </a:solidFill>
          <a:ln/>
        </p:spPr>
      </p:sp>
      <p:sp>
        <p:nvSpPr>
          <p:cNvPr id="16" name="text-317"/>
          <p:cNvSpPr txBox="1"/>
          <p:nvPr/>
        </p:nvSpPr>
        <p:spPr>
          <a:xfrm>
            <a:off x="484632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accent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条件の書き方</a:t>
            </a:r>
            <a:endParaRPr lang="ja-JP" sz="1800" dirty="0"/>
          </a:p>
        </p:txBody>
      </p:sp>
      <p:sp>
        <p:nvSpPr>
          <p:cNvPr id="17" name="badge-318"/>
          <p:cNvSpPr/>
          <p:nvPr/>
        </p:nvSpPr>
        <p:spPr>
          <a:xfrm>
            <a:off x="4846320" y="2514600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-319"/>
          <p:cNvSpPr txBox="1"/>
          <p:nvPr/>
        </p:nvSpPr>
        <p:spPr>
          <a:xfrm>
            <a:off x="5303520" y="249631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成功条件</a:t>
            </a:r>
            <a:endParaRPr lang="ja-JP" sz="1400" dirty="0"/>
          </a:p>
        </p:txBody>
      </p:sp>
      <p:sp>
        <p:nvSpPr>
          <p:cNvPr id="19" name="text-320"/>
          <p:cNvSpPr txBox="1"/>
          <p:nvPr/>
        </p:nvSpPr>
        <p:spPr>
          <a:xfrm>
            <a:off x="6583680" y="2496312"/>
            <a:ext cx="47850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dirty="0">
                <a:solidFill>
                  <a:schemeClr val="bg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終点 + 確認方法(例:npm test が exit 0)</a:t>
            </a:r>
            <a:endParaRPr lang="ja-JP" sz="1300" dirty="0"/>
          </a:p>
        </p:txBody>
      </p:sp>
      <p:sp>
        <p:nvSpPr>
          <p:cNvPr id="20" name="badge-321"/>
          <p:cNvSpPr/>
          <p:nvPr/>
        </p:nvSpPr>
        <p:spPr>
          <a:xfrm>
            <a:off x="4846320" y="2990088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-322"/>
          <p:cNvSpPr txBox="1"/>
          <p:nvPr/>
        </p:nvSpPr>
        <p:spPr>
          <a:xfrm>
            <a:off x="5303520" y="29718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制約</a:t>
            </a:r>
            <a:endParaRPr lang="ja-JP" sz="1400" dirty="0"/>
          </a:p>
        </p:txBody>
      </p:sp>
      <p:sp>
        <p:nvSpPr>
          <p:cNvPr id="22" name="text-323"/>
          <p:cNvSpPr txBox="1"/>
          <p:nvPr/>
        </p:nvSpPr>
        <p:spPr>
          <a:xfrm>
            <a:off x="6583680" y="2971800"/>
            <a:ext cx="47850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dirty="0">
                <a:solidFill>
                  <a:schemeClr val="bg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触らないもの(例:他のテストは変更しない)</a:t>
            </a:r>
            <a:endParaRPr lang="ja-JP" sz="1300" dirty="0"/>
          </a:p>
        </p:txBody>
      </p:sp>
      <p:sp>
        <p:nvSpPr>
          <p:cNvPr id="23" name="badge-324"/>
          <p:cNvSpPr/>
          <p:nvPr/>
        </p:nvSpPr>
        <p:spPr>
          <a:xfrm>
            <a:off x="4846320" y="3465576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-325"/>
          <p:cNvSpPr txBox="1"/>
          <p:nvPr/>
        </p:nvSpPr>
        <p:spPr>
          <a:xfrm>
            <a:off x="5303520" y="344728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上限</a:t>
            </a:r>
            <a:endParaRPr lang="ja-JP" sz="1400" dirty="0"/>
          </a:p>
        </p:txBody>
      </p:sp>
      <p:sp>
        <p:nvSpPr>
          <p:cNvPr id="25" name="text-326"/>
          <p:cNvSpPr txBox="1"/>
          <p:nvPr/>
        </p:nvSpPr>
        <p:spPr>
          <a:xfrm>
            <a:off x="6583680" y="3447288"/>
            <a:ext cx="47850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dirty="0">
                <a:solidFill>
                  <a:schemeClr val="bg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「…または 20 ターンで停止」</a:t>
            </a:r>
            <a:endParaRPr lang="ja-JP" sz="1300" dirty="0"/>
          </a:p>
        </p:txBody>
      </p:sp>
      <p:sp>
        <p:nvSpPr>
          <p:cNvPr id="26" name="card-327"/>
          <p:cNvSpPr/>
          <p:nvPr/>
        </p:nvSpPr>
        <p:spPr>
          <a:xfrm>
            <a:off x="4572000" y="4160520"/>
            <a:ext cx="338328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7" name="icon-bg-328"/>
          <p:cNvSpPr/>
          <p:nvPr/>
        </p:nvSpPr>
        <p:spPr>
          <a:xfrm>
            <a:off x="4754880" y="4315968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8" name="icon-32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8324" y="4439412"/>
            <a:ext cx="210312" cy="210312"/>
          </a:xfrm>
          <a:prstGeom prst="rect">
            <a:avLst/>
          </a:prstGeom>
        </p:spPr>
      </p:pic>
      <p:sp>
        <p:nvSpPr>
          <p:cNvPr id="29" name="text-330"/>
          <p:cNvSpPr txBox="1"/>
          <p:nvPr/>
        </p:nvSpPr>
        <p:spPr>
          <a:xfrm>
            <a:off x="5349240" y="4343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長所</a:t>
            </a:r>
            <a:endParaRPr lang="ja-JP" sz="1800" dirty="0"/>
          </a:p>
        </p:txBody>
      </p:sp>
      <p:sp>
        <p:nvSpPr>
          <p:cNvPr id="30" name="text-331"/>
          <p:cNvSpPr txBox="1"/>
          <p:nvPr/>
        </p:nvSpPr>
        <p:spPr>
          <a:xfrm>
            <a:off x="4800600" y="48920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ja-JP" altLang="en-US" sz="14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審判が「だいたい終わった」を止める</a:t>
            </a:r>
            <a:endParaRPr lang="ja-JP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ja-JP" altLang="en-US" sz="14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人が促さなくても続く</a:t>
            </a:r>
            <a:endParaRPr lang="ja-JP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ja-JP" altLang="en-US" sz="14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-p で無人でも動く</a:t>
            </a:r>
            <a:endParaRPr lang="ja-JP" sz="1400" dirty="0"/>
          </a:p>
        </p:txBody>
      </p:sp>
      <p:sp>
        <p:nvSpPr>
          <p:cNvPr id="31" name="card-332"/>
          <p:cNvSpPr/>
          <p:nvPr/>
        </p:nvSpPr>
        <p:spPr>
          <a:xfrm>
            <a:off x="8138160" y="4160520"/>
            <a:ext cx="3504895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32" name="icon-bg-333"/>
          <p:cNvSpPr/>
          <p:nvPr/>
        </p:nvSpPr>
        <p:spPr>
          <a:xfrm>
            <a:off x="8321040" y="4315968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33" name="icon-33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4484" y="4439412"/>
            <a:ext cx="210312" cy="210312"/>
          </a:xfrm>
          <a:prstGeom prst="rect">
            <a:avLst/>
          </a:prstGeom>
        </p:spPr>
      </p:pic>
      <p:sp>
        <p:nvSpPr>
          <p:cNvPr id="34" name="text-335"/>
          <p:cNvSpPr txBox="1"/>
          <p:nvPr/>
        </p:nvSpPr>
        <p:spPr>
          <a:xfrm>
            <a:off x="8915400" y="4343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限界と注意</a:t>
            </a:r>
            <a:endParaRPr lang="ja-JP" sz="1800" dirty="0"/>
          </a:p>
        </p:txBody>
      </p:sp>
      <p:sp>
        <p:nvSpPr>
          <p:cNvPr id="35" name="text-336"/>
          <p:cNvSpPr txBox="1"/>
          <p:nvPr/>
        </p:nvSpPr>
        <p:spPr>
          <a:xfrm>
            <a:off x="8366760" y="4892040"/>
            <a:ext cx="3093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ja-JP" altLang="en-US" sz="14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審判は会話しか読まない</a:t>
            </a:r>
            <a:endParaRPr lang="ja-JP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ja-JP" altLang="en-US" sz="14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測れない目的は不向き</a:t>
            </a:r>
            <a:endParaRPr lang="ja-JP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ja-JP" altLang="en-US" sz="14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ターンが増えると費用も増える</a:t>
            </a:r>
            <a:endParaRPr lang="ja-JP" sz="1400" dirty="0"/>
          </a:p>
        </p:txBody>
      </p:sp>
      <p:sp>
        <p:nvSpPr>
          <p:cNvPr id="36" name="text-337"/>
          <p:cNvSpPr txBox="1"/>
          <p:nvPr/>
        </p:nvSpPr>
        <p:spPr>
          <a:xfrm>
            <a:off x="548640" y="63550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00" dirty="0">
                <a:solidFill>
                  <a:schemeClr val="accent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Claude Code docs「Keep Claude working toward a goal」(/goal)</a:t>
            </a:r>
            <a:endParaRPr lang="ja-JP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ll-338"/>
          <p:cNvSpPr/>
          <p:nvPr/>
        </p:nvSpPr>
        <p:spPr>
          <a:xfrm>
            <a:off x="548640" y="365760"/>
            <a:ext cx="2715768" cy="310896"/>
          </a:xfrm>
          <a:prstGeom prst="roundRect">
            <a:avLst>
              <a:gd name="adj" fmla="val 4705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hook と Mods</a:t>
            </a:r>
            <a:endParaRPr lang="ja-JP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4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Mods — hook の先を自分で作る</a:t>
            </a:r>
            <a:endParaRPr lang="ja-JP" sz="3400" dirty="0"/>
          </a:p>
        </p:txBody>
      </p:sp>
      <p:sp>
        <p:nvSpPr>
          <p:cNvPr id="5" name="card-339"/>
          <p:cNvSpPr/>
          <p:nvPr/>
        </p:nvSpPr>
        <p:spPr>
          <a:xfrm>
            <a:off x="548640" y="1874520"/>
            <a:ext cx="589788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</p:sp>
      <p:sp>
        <p:nvSpPr>
          <p:cNvPr id="6" name="text-340"/>
          <p:cNvSpPr txBox="1"/>
          <p:nvPr/>
        </p:nvSpPr>
        <p:spPr>
          <a:xfrm>
            <a:off x="822960" y="205740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plugin に入れた JS/TS モジュール。セッション中ずっと常駐し、状態を保持できる</a:t>
            </a:r>
            <a:endParaRPr lang="ja-JP" sz="1800" dirty="0"/>
          </a:p>
        </p:txBody>
      </p:sp>
      <p:sp>
        <p:nvSpPr>
          <p:cNvPr id="7" name="icon-bg-341"/>
          <p:cNvSpPr/>
          <p:nvPr/>
        </p:nvSpPr>
        <p:spPr>
          <a:xfrm>
            <a:off x="822960" y="310896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-34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437" y="3269437"/>
            <a:ext cx="273406" cy="273406"/>
          </a:xfrm>
          <a:prstGeom prst="rect">
            <a:avLst/>
          </a:prstGeom>
        </p:spPr>
      </p:pic>
      <p:sp>
        <p:nvSpPr>
          <p:cNvPr id="9" name="text-343"/>
          <p:cNvSpPr txBox="1"/>
          <p:nvPr/>
        </p:nvSpPr>
        <p:spPr>
          <a:xfrm>
            <a:off x="1600200" y="309067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観察</a:t>
            </a:r>
            <a:endParaRPr lang="ja-JP" sz="1800" dirty="0"/>
          </a:p>
        </p:txBody>
      </p:sp>
      <p:sp>
        <p:nvSpPr>
          <p:cNvPr id="10" name="text-344"/>
          <p:cNvSpPr txBox="1"/>
          <p:nvPr/>
        </p:nvSpPr>
        <p:spPr>
          <a:xfrm>
            <a:off x="1600200" y="34564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tool 呼び出しやターンを見る</a:t>
            </a:r>
            <a:endParaRPr lang="ja-JP" sz="1500" dirty="0"/>
          </a:p>
        </p:txBody>
      </p:sp>
      <p:sp>
        <p:nvSpPr>
          <p:cNvPr id="11" name="icon-bg-345"/>
          <p:cNvSpPr/>
          <p:nvPr/>
        </p:nvSpPr>
        <p:spPr>
          <a:xfrm>
            <a:off x="822960" y="40690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-34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437" y="4229557"/>
            <a:ext cx="273406" cy="273406"/>
          </a:xfrm>
          <a:prstGeom prst="rect">
            <a:avLst/>
          </a:prstGeom>
        </p:spPr>
      </p:pic>
      <p:sp>
        <p:nvSpPr>
          <p:cNvPr id="13" name="text-347"/>
          <p:cNvSpPr txBox="1"/>
          <p:nvPr/>
        </p:nvSpPr>
        <p:spPr>
          <a:xfrm>
            <a:off x="1600200" y="405079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書き換え</a:t>
            </a:r>
            <a:endParaRPr lang="ja-JP" sz="1800" dirty="0"/>
          </a:p>
        </p:txBody>
      </p:sp>
      <p:sp>
        <p:nvSpPr>
          <p:cNvPr id="14" name="text-348"/>
          <p:cNvSpPr txBox="1"/>
          <p:nvPr/>
        </p:nvSpPr>
        <p:spPr>
          <a:xfrm>
            <a:off x="1600200" y="44165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危険なコマンドを安全な形に差し替える</a:t>
            </a:r>
            <a:endParaRPr lang="ja-JP" sz="1500" dirty="0"/>
          </a:p>
        </p:txBody>
      </p:sp>
      <p:sp>
        <p:nvSpPr>
          <p:cNvPr id="15" name="icon-bg-349"/>
          <p:cNvSpPr/>
          <p:nvPr/>
        </p:nvSpPr>
        <p:spPr>
          <a:xfrm>
            <a:off x="822960" y="5029200"/>
            <a:ext cx="594360" cy="5943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6" name="icon-35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37" y="5189677"/>
            <a:ext cx="273406" cy="273406"/>
          </a:xfrm>
          <a:prstGeom prst="rect">
            <a:avLst/>
          </a:prstGeom>
        </p:spPr>
      </p:pic>
      <p:sp>
        <p:nvSpPr>
          <p:cNvPr id="17" name="text-351"/>
          <p:cNvSpPr txBox="1"/>
          <p:nvPr/>
        </p:nvSpPr>
        <p:spPr>
          <a:xfrm>
            <a:off x="1600200" y="501091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応答</a:t>
            </a:r>
            <a:endParaRPr lang="ja-JP" sz="1800" dirty="0"/>
          </a:p>
        </p:txBody>
      </p:sp>
      <p:sp>
        <p:nvSpPr>
          <p:cNvPr id="18" name="text-352"/>
          <p:cNvSpPr txBox="1"/>
          <p:nvPr/>
        </p:nvSpPr>
        <p:spPr>
          <a:xfrm>
            <a:off x="1600200" y="53766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deny で拒否、または自前の結果を返す</a:t>
            </a:r>
            <a:endParaRPr lang="ja-JP" sz="1500" dirty="0"/>
          </a:p>
        </p:txBody>
      </p:sp>
      <p:sp>
        <p:nvSpPr>
          <p:cNvPr id="19" name="card-353"/>
          <p:cNvSpPr/>
          <p:nvPr/>
        </p:nvSpPr>
        <p:spPr>
          <a:xfrm>
            <a:off x="6675120" y="1874520"/>
            <a:ext cx="4967935" cy="420624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/>
        </p:spPr>
      </p:sp>
      <p:sp>
        <p:nvSpPr>
          <p:cNvPr id="20" name="text-354"/>
          <p:cNvSpPr txBox="1"/>
          <p:nvPr/>
        </p:nvSpPr>
        <p:spPr>
          <a:xfrm>
            <a:off x="6995160" y="21031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44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2.1.287+</a:t>
            </a:r>
            <a:endParaRPr lang="ja-JP" sz="4400" dirty="0"/>
          </a:p>
        </p:txBody>
      </p:sp>
      <p:sp>
        <p:nvSpPr>
          <p:cNvPr id="21" name="text-355"/>
          <p:cNvSpPr txBox="1"/>
          <p:nvPr/>
        </p:nvSpPr>
        <p:spPr>
          <a:xfrm>
            <a:off x="6995160" y="29718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5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 Claude Code のバージョン</a:t>
            </a:r>
            <a:endParaRPr lang="ja-JP" sz="1500" dirty="0"/>
          </a:p>
          <a:p>
            <a:pPr indent="0" marL="0">
              <a:buNone/>
            </a:pPr>
            <a:r>
              <a:rPr lang="ja-JP" altLang="en-US" sz="15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(mods は既定で有効)</a:t>
            </a:r>
            <a:endParaRPr lang="ja-JP" sz="1500" dirty="0"/>
          </a:p>
        </p:txBody>
      </p:sp>
      <p:sp>
        <p:nvSpPr>
          <p:cNvPr id="22" name="text-356"/>
          <p:cNvSpPr txBox="1"/>
          <p:nvPr/>
        </p:nvSpPr>
        <p:spPr>
          <a:xfrm>
            <a:off x="6995160" y="3703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UI も描ける</a:t>
            </a:r>
            <a:endParaRPr lang="ja-JP" sz="1800" dirty="0"/>
          </a:p>
        </p:txBody>
      </p:sp>
      <p:sp>
        <p:nvSpPr>
          <p:cNvPr id="23" name="text-357"/>
          <p:cNvSpPr txBox="1"/>
          <p:nvPr/>
        </p:nvSpPr>
        <p:spPr>
          <a:xfrm>
            <a:off x="6995160" y="41148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altLang="en-US" sz="15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status line ・ pane ・ toast</a:t>
            </a:r>
            <a:endParaRPr lang="ja-JP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altLang="en-US" sz="15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slash command の追加</a:t>
            </a:r>
            <a:endParaRPr lang="ja-JP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ja-JP" altLang="en-US" sz="15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プロンプト上の band(ui.render)</a:t>
            </a:r>
            <a:endParaRPr lang="ja-JP" sz="1500" dirty="0"/>
          </a:p>
        </p:txBody>
      </p:sp>
      <p:sp>
        <p:nvSpPr>
          <p:cNvPr id="24" name="text-358"/>
          <p:cNvSpPr txBox="1"/>
          <p:nvPr/>
        </p:nvSpPr>
        <p:spPr>
          <a:xfrm>
            <a:off x="6995160" y="52578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500" b="1" dirty="0">
                <a:solidFill>
                  <a:schemeClr val="accent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AGENTS.md 対応と /diff パネルも</a:t>
            </a:r>
            <a:endParaRPr lang="ja-JP" sz="1500" dirty="0"/>
          </a:p>
          <a:p>
            <a:pPr indent="0" marL="0">
              <a:buNone/>
            </a:pPr>
            <a:r>
              <a:rPr lang="ja-JP" altLang="en-US" sz="1500" b="1" dirty="0">
                <a:solidFill>
                  <a:schemeClr val="accent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mod で実装されている</a:t>
            </a:r>
            <a:endParaRPr lang="ja-JP" sz="1500" dirty="0"/>
          </a:p>
        </p:txBody>
      </p:sp>
      <p:sp>
        <p:nvSpPr>
          <p:cNvPr id="25" name="text-359"/>
          <p:cNvSpPr txBox="1"/>
          <p:nvPr/>
        </p:nvSpPr>
        <p:spPr>
          <a:xfrm>
            <a:off x="548640" y="63550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00" dirty="0">
                <a:solidFill>
                  <a:schemeClr val="accent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Claude Blog「Getting started with Claude Code mods」(2026/10/01)</a:t>
            </a:r>
            <a:endParaRPr lang="ja-JP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ll-360"/>
          <p:cNvSpPr/>
          <p:nvPr/>
        </p:nvSpPr>
        <p:spPr>
          <a:xfrm>
            <a:off x="548640" y="365760"/>
            <a:ext cx="2715768" cy="310896"/>
          </a:xfrm>
          <a:prstGeom prst="roundRect">
            <a:avLst>
              <a:gd name="adj" fmla="val 4705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hook と Mods</a:t>
            </a:r>
            <a:endParaRPr lang="ja-JP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4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助言は貼り紙、決定論は鍵</a:t>
            </a:r>
            <a:endParaRPr lang="ja-JP" sz="3400" dirty="0"/>
          </a:p>
        </p:txBody>
      </p:sp>
      <p:sp>
        <p:nvSpPr>
          <p:cNvPr id="5" name="card-361"/>
          <p:cNvSpPr/>
          <p:nvPr/>
        </p:nvSpPr>
        <p:spPr>
          <a:xfrm>
            <a:off x="548640" y="1874520"/>
            <a:ext cx="544068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/>
        </p:spPr>
      </p:sp>
      <p:sp>
        <p:nvSpPr>
          <p:cNvPr id="6" name="pill-362"/>
          <p:cNvSpPr/>
          <p:nvPr/>
        </p:nvSpPr>
        <p:spPr>
          <a:xfrm>
            <a:off x="777240" y="2011680"/>
            <a:ext cx="822960" cy="310896"/>
          </a:xfrm>
          <a:prstGeom prst="roundRect">
            <a:avLst>
              <a:gd name="adj" fmla="val 47059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助言</a:t>
            </a:r>
            <a:endParaRPr lang="ja-JP" sz="1200" dirty="0"/>
          </a:p>
        </p:txBody>
      </p:sp>
      <p:sp>
        <p:nvSpPr>
          <p:cNvPr id="7" name="text-363"/>
          <p:cNvSpPr txBox="1"/>
          <p:nvPr/>
        </p:nvSpPr>
        <p:spPr>
          <a:xfrm>
            <a:off x="777240" y="23957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2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貼り紙 = CLAUDE.md</a:t>
            </a:r>
            <a:endParaRPr lang="ja-JP" sz="2200" dirty="0"/>
          </a:p>
        </p:txBody>
      </p:sp>
      <p:sp>
        <p:nvSpPr>
          <p:cNvPr id="8" name="icon-bg-364"/>
          <p:cNvSpPr/>
          <p:nvPr/>
        </p:nvSpPr>
        <p:spPr>
          <a:xfrm>
            <a:off x="914400" y="29260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con-36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222" y="3098902"/>
            <a:ext cx="294437" cy="294437"/>
          </a:xfrm>
          <a:prstGeom prst="rect">
            <a:avLst/>
          </a:prstGeom>
        </p:spPr>
      </p:pic>
      <p:sp>
        <p:nvSpPr>
          <p:cNvPr id="10" name="arrow-366"/>
          <p:cNvSpPr/>
          <p:nvPr/>
        </p:nvSpPr>
        <p:spPr>
          <a:xfrm>
            <a:off x="1691640" y="3108960"/>
            <a:ext cx="274320" cy="27432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11" name="icon-bg-367"/>
          <p:cNvSpPr/>
          <p:nvPr/>
        </p:nvSpPr>
        <p:spPr>
          <a:xfrm>
            <a:off x="2148840" y="292608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icon-36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662" y="3098902"/>
            <a:ext cx="294437" cy="294437"/>
          </a:xfrm>
          <a:prstGeom prst="rect">
            <a:avLst/>
          </a:prstGeom>
        </p:spPr>
      </p:pic>
      <p:sp>
        <p:nvSpPr>
          <p:cNvPr id="13" name="arrow-369"/>
          <p:cNvSpPr/>
          <p:nvPr/>
        </p:nvSpPr>
        <p:spPr>
          <a:xfrm>
            <a:off x="2926080" y="3108960"/>
            <a:ext cx="274320" cy="27432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14" name="icon-bg-370"/>
          <p:cNvSpPr/>
          <p:nvPr/>
        </p:nvSpPr>
        <p:spPr>
          <a:xfrm>
            <a:off x="3383280" y="292608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5" name="icon-37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102" y="3098902"/>
            <a:ext cx="294437" cy="294437"/>
          </a:xfrm>
          <a:prstGeom prst="rect">
            <a:avLst/>
          </a:prstGeom>
        </p:spPr>
      </p:pic>
      <p:sp>
        <p:nvSpPr>
          <p:cNvPr id="16" name="text-372"/>
          <p:cNvSpPr txBox="1"/>
          <p:nvPr/>
        </p:nvSpPr>
        <p:spPr>
          <a:xfrm>
            <a:off x="4160520" y="3063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chemeClr val="accent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すり抜ける</a:t>
            </a:r>
            <a:endParaRPr lang="ja-JP" sz="1400" dirty="0"/>
          </a:p>
        </p:txBody>
      </p:sp>
      <p:sp>
        <p:nvSpPr>
          <p:cNvPr id="17" name="text-373"/>
          <p:cNvSpPr txBox="1"/>
          <p:nvPr/>
        </p:nvSpPr>
        <p:spPr>
          <a:xfrm>
            <a:off x="777240" y="3794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6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モデルが読んで従う。守られないことがある</a:t>
            </a:r>
            <a:endParaRPr lang="ja-JP" sz="1600" dirty="0"/>
          </a:p>
        </p:txBody>
      </p:sp>
      <p:sp>
        <p:nvSpPr>
          <p:cNvPr id="18" name="text-374"/>
          <p:cNvSpPr txBox="1"/>
          <p:nvPr/>
        </p:nvSpPr>
        <p:spPr>
          <a:xfrm>
            <a:off x="777240" y="4206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accent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例:「コミット前に lint を実行して」と書く</a:t>
            </a:r>
            <a:endParaRPr lang="ja-JP" sz="1400" dirty="0"/>
          </a:p>
        </p:txBody>
      </p:sp>
      <p:sp>
        <p:nvSpPr>
          <p:cNvPr id="19" name="card-375"/>
          <p:cNvSpPr/>
          <p:nvPr/>
        </p:nvSpPr>
        <p:spPr>
          <a:xfrm>
            <a:off x="6202375" y="1874520"/>
            <a:ext cx="5440680" cy="2834640"/>
          </a:xfrm>
          <a:prstGeom prst="roundRect">
            <a:avLst>
              <a:gd name="adj" fmla="val 3871"/>
            </a:avLst>
          </a:prstGeom>
          <a:solidFill>
            <a:schemeClr val="tx2"/>
          </a:solidFill>
          <a:ln/>
        </p:spPr>
      </p:sp>
      <p:sp>
        <p:nvSpPr>
          <p:cNvPr id="20" name="pill-376"/>
          <p:cNvSpPr/>
          <p:nvPr/>
        </p:nvSpPr>
        <p:spPr>
          <a:xfrm>
            <a:off x="6430975" y="2011680"/>
            <a:ext cx="822960" cy="310896"/>
          </a:xfrm>
          <a:prstGeom prst="roundRect">
            <a:avLst>
              <a:gd name="adj" fmla="val 4705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決定論</a:t>
            </a:r>
            <a:endParaRPr lang="ja-JP" sz="1200" dirty="0"/>
          </a:p>
        </p:txBody>
      </p:sp>
      <p:sp>
        <p:nvSpPr>
          <p:cNvPr id="21" name="text-377"/>
          <p:cNvSpPr txBox="1"/>
          <p:nvPr/>
        </p:nvSpPr>
        <p:spPr>
          <a:xfrm>
            <a:off x="6430975" y="23957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2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鍵 = hook(pre-commit など)</a:t>
            </a:r>
            <a:endParaRPr lang="ja-JP" sz="2200" dirty="0"/>
          </a:p>
        </p:txBody>
      </p:sp>
      <p:sp>
        <p:nvSpPr>
          <p:cNvPr id="22" name="icon-bg-378"/>
          <p:cNvSpPr/>
          <p:nvPr/>
        </p:nvSpPr>
        <p:spPr>
          <a:xfrm>
            <a:off x="6568135" y="29260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3" name="icon-37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0957" y="3098902"/>
            <a:ext cx="294437" cy="294437"/>
          </a:xfrm>
          <a:prstGeom prst="rect">
            <a:avLst/>
          </a:prstGeom>
        </p:spPr>
      </p:pic>
      <p:sp>
        <p:nvSpPr>
          <p:cNvPr id="24" name="arrow-380"/>
          <p:cNvSpPr/>
          <p:nvPr/>
        </p:nvSpPr>
        <p:spPr>
          <a:xfrm>
            <a:off x="7345375" y="3108960"/>
            <a:ext cx="274320" cy="274320"/>
          </a:xfrm>
          <a:prstGeom prst="rightArrow">
            <a:avLst/>
          </a:prstGeom>
          <a:solidFill>
            <a:schemeClr val="bg2"/>
          </a:solidFill>
          <a:ln/>
        </p:spPr>
      </p:sp>
      <p:sp>
        <p:nvSpPr>
          <p:cNvPr id="25" name="icon-bg-381"/>
          <p:cNvSpPr/>
          <p:nvPr/>
        </p:nvSpPr>
        <p:spPr>
          <a:xfrm>
            <a:off x="7802575" y="29260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con-38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5397" y="3098902"/>
            <a:ext cx="294437" cy="294437"/>
          </a:xfrm>
          <a:prstGeom prst="rect">
            <a:avLst/>
          </a:prstGeom>
        </p:spPr>
      </p:pic>
      <p:sp>
        <p:nvSpPr>
          <p:cNvPr id="27" name="arrow-383"/>
          <p:cNvSpPr/>
          <p:nvPr/>
        </p:nvSpPr>
        <p:spPr>
          <a:xfrm>
            <a:off x="8579815" y="3108960"/>
            <a:ext cx="274320" cy="274320"/>
          </a:xfrm>
          <a:prstGeom prst="rightArrow">
            <a:avLst/>
          </a:prstGeom>
          <a:solidFill>
            <a:schemeClr val="bg2"/>
          </a:solidFill>
          <a:ln/>
        </p:spPr>
      </p:sp>
      <p:sp>
        <p:nvSpPr>
          <p:cNvPr id="28" name="icon-bg-384"/>
          <p:cNvSpPr/>
          <p:nvPr/>
        </p:nvSpPr>
        <p:spPr>
          <a:xfrm>
            <a:off x="9037015" y="292608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9" name="icon-38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9837" y="3098902"/>
            <a:ext cx="294437" cy="294437"/>
          </a:xfrm>
          <a:prstGeom prst="rect">
            <a:avLst/>
          </a:prstGeom>
        </p:spPr>
      </p:pic>
      <p:sp>
        <p:nvSpPr>
          <p:cNvPr id="30" name="text-386"/>
          <p:cNvSpPr txBox="1"/>
          <p:nvPr/>
        </p:nvSpPr>
        <p:spPr>
          <a:xfrm>
            <a:off x="9814255" y="3063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chemeClr val="accent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通れない</a:t>
            </a:r>
            <a:endParaRPr lang="ja-JP" sz="1400" dirty="0"/>
          </a:p>
        </p:txBody>
      </p:sp>
      <p:sp>
        <p:nvSpPr>
          <p:cNvPr id="31" name="text-387"/>
          <p:cNvSpPr txBox="1"/>
          <p:nvPr/>
        </p:nvSpPr>
        <p:spPr>
          <a:xfrm>
            <a:off x="6430975" y="3794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6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条件が合えば毎回必ず実行される</a:t>
            </a:r>
            <a:endParaRPr lang="ja-JP" sz="1600" dirty="0"/>
          </a:p>
        </p:txBody>
      </p:sp>
      <p:sp>
        <p:nvSpPr>
          <p:cNvPr id="32" name="text-388"/>
          <p:cNvSpPr txBox="1"/>
          <p:nvPr/>
        </p:nvSpPr>
        <p:spPr>
          <a:xfrm>
            <a:off x="6430975" y="41605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accent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例:husky が lint・型チェックを自動実行</a:t>
            </a:r>
            <a:endParaRPr lang="ja-JP" sz="14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accent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失敗なら commit できない</a:t>
            </a:r>
            <a:endParaRPr lang="ja-JP" sz="1400" dirty="0"/>
          </a:p>
        </p:txBody>
      </p:sp>
      <p:sp>
        <p:nvSpPr>
          <p:cNvPr id="33" name="card-389"/>
          <p:cNvSpPr/>
          <p:nvPr/>
        </p:nvSpPr>
        <p:spPr>
          <a:xfrm>
            <a:off x="548640" y="4892040"/>
            <a:ext cx="54406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34" name="icon-bg-390"/>
          <p:cNvSpPr/>
          <p:nvPr/>
        </p:nvSpPr>
        <p:spPr>
          <a:xfrm>
            <a:off x="777240" y="507492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5" name="icon-391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717" y="5235397"/>
            <a:ext cx="273406" cy="273406"/>
          </a:xfrm>
          <a:prstGeom prst="rect">
            <a:avLst/>
          </a:prstGeom>
        </p:spPr>
      </p:pic>
      <p:sp>
        <p:nvSpPr>
          <p:cNvPr id="36" name="text-392"/>
          <p:cNvSpPr txBox="1"/>
          <p:nvPr/>
        </p:nvSpPr>
        <p:spPr>
          <a:xfrm>
            <a:off x="1554480" y="5029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7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本体は CI / pre-commit</a:t>
            </a:r>
            <a:endParaRPr lang="ja-JP" sz="1700" dirty="0"/>
          </a:p>
        </p:txBody>
      </p:sp>
      <p:sp>
        <p:nvSpPr>
          <p:cNvPr id="37" name="text-393"/>
          <p:cNvSpPr txBox="1"/>
          <p:nvPr/>
        </p:nvSpPr>
        <p:spPr>
          <a:xfrm>
            <a:off x="1554480" y="544068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の hook は、agent にも</a:t>
            </a:r>
            <a:endParaRPr lang="ja-JP" sz="1500" dirty="0"/>
          </a:p>
          <a:p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必ず走らせるための補強</a:t>
            </a:r>
            <a:endParaRPr lang="ja-JP" sz="1500" dirty="0"/>
          </a:p>
        </p:txBody>
      </p:sp>
      <p:sp>
        <p:nvSpPr>
          <p:cNvPr id="38" name="card-394"/>
          <p:cNvSpPr/>
          <p:nvPr/>
        </p:nvSpPr>
        <p:spPr>
          <a:xfrm>
            <a:off x="6202375" y="4892040"/>
            <a:ext cx="54406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39" name="icon-bg-395"/>
          <p:cNvSpPr/>
          <p:nvPr/>
        </p:nvSpPr>
        <p:spPr>
          <a:xfrm>
            <a:off x="6430975" y="5074920"/>
            <a:ext cx="594360" cy="59436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40" name="icon-39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1452" y="5235397"/>
            <a:ext cx="273406" cy="273406"/>
          </a:xfrm>
          <a:prstGeom prst="rect">
            <a:avLst/>
          </a:prstGeom>
        </p:spPr>
      </p:pic>
      <p:sp>
        <p:nvSpPr>
          <p:cNvPr id="41" name="text-397"/>
          <p:cNvSpPr txBox="1"/>
          <p:nvPr/>
        </p:nvSpPr>
        <p:spPr>
          <a:xfrm>
            <a:off x="7208215" y="5029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7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mod はあなたと同じ権限で動く</a:t>
            </a:r>
            <a:endParaRPr lang="ja-JP" sz="1700" dirty="0"/>
          </a:p>
        </p:txBody>
      </p:sp>
      <p:sp>
        <p:nvSpPr>
          <p:cNvPr id="42" name="text-398"/>
          <p:cNvSpPr txBox="1"/>
          <p:nvPr/>
        </p:nvSpPr>
        <p:spPr>
          <a:xfrm>
            <a:off x="7208215" y="54406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ソースを読み、</a:t>
            </a:r>
            <a:endParaRPr lang="ja-JP" sz="1500" dirty="0"/>
          </a:p>
          <a:p>
            <a:pPr indent="0" marL="0">
              <a:buNone/>
            </a:pPr>
            <a:r>
              <a:rPr lang="ja-JP" altLang="en-US" sz="1500" dirty="0">
                <a:solidFill>
                  <a:schemeClr val="tx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信頼できる発行元だけ入れる</a:t>
            </a:r>
            <a:endParaRPr lang="ja-JP" sz="1500" dirty="0"/>
          </a:p>
        </p:txBody>
      </p:sp>
      <p:sp>
        <p:nvSpPr>
          <p:cNvPr id="43" name="text-399"/>
          <p:cNvSpPr txBox="1"/>
          <p:nvPr/>
        </p:nvSpPr>
        <p:spPr>
          <a:xfrm>
            <a:off x="548640" y="63550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00" dirty="0">
                <a:solidFill>
                  <a:schemeClr val="accent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Claude Blog「Getting started with Claude Code mods」・Claude Code docs「Best practices」</a:t>
            </a:r>
            <a:endParaRPr lang="ja-JP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ll-400"/>
          <p:cNvSpPr/>
          <p:nvPr/>
        </p:nvSpPr>
        <p:spPr>
          <a:xfrm>
            <a:off x="548640" y="365760"/>
            <a:ext cx="1673352" cy="310896"/>
          </a:xfrm>
          <a:prstGeom prst="roundRect">
            <a:avLst>
              <a:gd name="adj" fmla="val 4705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安全と防御</a:t>
            </a:r>
            <a:endParaRPr lang="ja-JP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4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多層防御 — 承認ではなく環境で守る</a:t>
            </a:r>
            <a:endParaRPr lang="ja-JP" sz="3400" dirty="0"/>
          </a:p>
        </p:txBody>
      </p:sp>
      <p:sp>
        <p:nvSpPr>
          <p:cNvPr id="5" name="card-401"/>
          <p:cNvSpPr/>
          <p:nvPr/>
        </p:nvSpPr>
        <p:spPr>
          <a:xfrm>
            <a:off x="548640" y="1874520"/>
            <a:ext cx="5852160" cy="123444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/>
        </p:spPr>
      </p:sp>
      <p:sp>
        <p:nvSpPr>
          <p:cNvPr id="6" name="pill-402"/>
          <p:cNvSpPr/>
          <p:nvPr/>
        </p:nvSpPr>
        <p:spPr>
          <a:xfrm>
            <a:off x="777240" y="2057400"/>
            <a:ext cx="868680" cy="29260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決定論</a:t>
            </a:r>
            <a:endParaRPr lang="ja-JP" sz="1200" dirty="0"/>
          </a:p>
        </p:txBody>
      </p:sp>
      <p:sp>
        <p:nvSpPr>
          <p:cNvPr id="7" name="text-403"/>
          <p:cNvSpPr txBox="1"/>
          <p:nvPr/>
        </p:nvSpPr>
        <p:spPr>
          <a:xfrm>
            <a:off x="1783080" y="20116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環境:OS レベルの sandbox</a:t>
            </a:r>
            <a:endParaRPr lang="ja-JP" sz="1800" dirty="0"/>
          </a:p>
        </p:txBody>
      </p:sp>
      <p:sp>
        <p:nvSpPr>
          <p:cNvPr id="8" name="text-404"/>
          <p:cNvSpPr txBox="1"/>
          <p:nvPr/>
        </p:nvSpPr>
        <p:spPr>
          <a:xfrm>
            <a:off x="777240" y="249631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書き込みはワークスペース内、ネットワークは既定で拒否</a:t>
            </a:r>
            <a:endParaRPr lang="ja-JP" sz="14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権限確認が 84% 減</a:t>
            </a:r>
            <a:endParaRPr lang="ja-JP" sz="1400" dirty="0"/>
          </a:p>
        </p:txBody>
      </p:sp>
      <p:sp>
        <p:nvSpPr>
          <p:cNvPr id="9" name="card-405"/>
          <p:cNvSpPr/>
          <p:nvPr/>
        </p:nvSpPr>
        <p:spPr>
          <a:xfrm>
            <a:off x="548640" y="3264408"/>
            <a:ext cx="585216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0" name="pill-406"/>
          <p:cNvSpPr/>
          <p:nvPr/>
        </p:nvSpPr>
        <p:spPr>
          <a:xfrm>
            <a:off x="777240" y="3447288"/>
            <a:ext cx="86868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確率的</a:t>
            </a:r>
            <a:endParaRPr lang="ja-JP" sz="1200" dirty="0"/>
          </a:p>
        </p:txBody>
      </p:sp>
      <p:sp>
        <p:nvSpPr>
          <p:cNvPr id="11" name="text-407"/>
          <p:cNvSpPr txBox="1"/>
          <p:nvPr/>
        </p:nvSpPr>
        <p:spPr>
          <a:xfrm>
            <a:off x="1783080" y="34015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モデル:auto mode の分類器</a:t>
            </a:r>
            <a:endParaRPr lang="ja-JP" sz="1800" dirty="0"/>
          </a:p>
        </p:txBody>
      </p:sp>
      <p:sp>
        <p:nvSpPr>
          <p:cNvPr id="12" name="text-408"/>
          <p:cNvSpPr txBox="1"/>
          <p:nvPr/>
        </p:nvSpPr>
        <p:spPr>
          <a:xfrm>
            <a:off x="777240" y="38862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段階:高速フィルタ → 疑わしい時だけ推論</a:t>
            </a:r>
            <a:endParaRPr lang="ja-JP" sz="14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assistant の発言と tool 結果は分類器に見せない</a:t>
            </a:r>
            <a:endParaRPr lang="ja-JP" sz="1400" dirty="0"/>
          </a:p>
        </p:txBody>
      </p:sp>
      <p:sp>
        <p:nvSpPr>
          <p:cNvPr id="13" name="card-409"/>
          <p:cNvSpPr/>
          <p:nvPr/>
        </p:nvSpPr>
        <p:spPr>
          <a:xfrm>
            <a:off x="548640" y="4654296"/>
            <a:ext cx="585216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4" name="pill-410"/>
          <p:cNvSpPr/>
          <p:nvPr/>
        </p:nvSpPr>
        <p:spPr>
          <a:xfrm>
            <a:off x="777240" y="4837176"/>
            <a:ext cx="868680" cy="29260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人間</a:t>
            </a:r>
            <a:endParaRPr lang="ja-JP" sz="1200" dirty="0"/>
          </a:p>
        </p:txBody>
      </p:sp>
      <p:sp>
        <p:nvSpPr>
          <p:cNvPr id="15" name="text-411"/>
          <p:cNvSpPr txBox="1"/>
          <p:nvPr/>
        </p:nvSpPr>
        <p:spPr>
          <a:xfrm>
            <a:off x="1783080" y="479145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エスカレーション</a:t>
            </a:r>
            <a:endParaRPr lang="ja-JP" sz="1800" dirty="0"/>
          </a:p>
        </p:txBody>
      </p:sp>
      <p:sp>
        <p:nvSpPr>
          <p:cNvPr id="16" name="text-412"/>
          <p:cNvSpPr txBox="1"/>
          <p:nvPr/>
        </p:nvSpPr>
        <p:spPr>
          <a:xfrm>
            <a:off x="777240" y="527608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連続 3 回・計 20 回拒否されたら人間に戻す</a:t>
            </a:r>
            <a:endParaRPr lang="ja-JP" sz="1400" dirty="0"/>
          </a:p>
        </p:txBody>
      </p:sp>
      <p:sp>
        <p:nvSpPr>
          <p:cNvPr id="17" name="card-413"/>
          <p:cNvSpPr/>
          <p:nvPr/>
        </p:nvSpPr>
        <p:spPr>
          <a:xfrm>
            <a:off x="6675120" y="1874520"/>
            <a:ext cx="4967935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8" name="text-414"/>
          <p:cNvSpPr txBox="1"/>
          <p:nvPr/>
        </p:nvSpPr>
        <p:spPr>
          <a:xfrm>
            <a:off x="6903720" y="201168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800" b="1" dirty="0">
                <a:solidFill>
                  <a:schemeClr val="accent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93%</a:t>
            </a:r>
            <a:endParaRPr lang="ja-JP" sz="2800" dirty="0"/>
          </a:p>
        </p:txBody>
      </p:sp>
      <p:sp>
        <p:nvSpPr>
          <p:cNvPr id="19" name="text-415"/>
          <p:cNvSpPr txBox="1"/>
          <p:nvPr/>
        </p:nvSpPr>
        <p:spPr>
          <a:xfrm>
            <a:off x="9372600" y="201168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権限確認を許可していた(確認疲れ)</a:t>
            </a:r>
            <a:endParaRPr lang="ja-JP" sz="1400" dirty="0"/>
          </a:p>
        </p:txBody>
      </p:sp>
      <p:sp>
        <p:nvSpPr>
          <p:cNvPr id="20" name="card-416"/>
          <p:cNvSpPr/>
          <p:nvPr/>
        </p:nvSpPr>
        <p:spPr>
          <a:xfrm>
            <a:off x="6675120" y="3264408"/>
            <a:ext cx="4967935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21" name="text-417"/>
          <p:cNvSpPr txBox="1"/>
          <p:nvPr/>
        </p:nvSpPr>
        <p:spPr>
          <a:xfrm>
            <a:off x="6903720" y="3401568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800" b="1" dirty="0">
                <a:solidFill>
                  <a:schemeClr val="accent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8.5% → 0.4%</a:t>
            </a:r>
            <a:endParaRPr lang="ja-JP" sz="2800" dirty="0"/>
          </a:p>
        </p:txBody>
      </p:sp>
      <p:sp>
        <p:nvSpPr>
          <p:cNvPr id="22" name="text-418"/>
          <p:cNvSpPr txBox="1"/>
          <p:nvPr/>
        </p:nvSpPr>
        <p:spPr>
          <a:xfrm>
            <a:off x="9372600" y="3401568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誤検知率(2 段階で低減)</a:t>
            </a:r>
            <a:endParaRPr lang="ja-JP" sz="1400" dirty="0"/>
          </a:p>
        </p:txBody>
      </p:sp>
      <p:sp>
        <p:nvSpPr>
          <p:cNvPr id="23" name="card-419"/>
          <p:cNvSpPr/>
          <p:nvPr/>
        </p:nvSpPr>
        <p:spPr>
          <a:xfrm>
            <a:off x="6675120" y="4654296"/>
            <a:ext cx="4967935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24" name="text-420"/>
          <p:cNvSpPr txBox="1"/>
          <p:nvPr/>
        </p:nvSpPr>
        <p:spPr>
          <a:xfrm>
            <a:off x="6903720" y="4791456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800" b="1" dirty="0">
                <a:solidFill>
                  <a:schemeClr val="accent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6.6% → 17%</a:t>
            </a:r>
            <a:endParaRPr lang="ja-JP" sz="2800" dirty="0"/>
          </a:p>
        </p:txBody>
      </p:sp>
      <p:sp>
        <p:nvSpPr>
          <p:cNvPr id="25" name="text-421"/>
          <p:cNvSpPr txBox="1"/>
          <p:nvPr/>
        </p:nvSpPr>
        <p:spPr>
          <a:xfrm>
            <a:off x="9372600" y="4791456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実際の過剰行動の</a:t>
            </a:r>
            <a:endParaRPr lang="ja-JP" sz="14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見逃し率(公式が</a:t>
            </a:r>
            <a:endParaRPr lang="ja-JP" sz="1400" dirty="0"/>
          </a:p>
          <a:p>
            <a:pPr indent="0" marL="0">
              <a:buNone/>
            </a:pPr>
            <a:r>
              <a:rPr lang="ja-JP" alt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「正直な数字」と評価)</a:t>
            </a:r>
            <a:endParaRPr lang="ja-JP" sz="1400" dirty="0"/>
          </a:p>
        </p:txBody>
      </p:sp>
      <p:sp>
        <p:nvSpPr>
          <p:cNvPr id="26" name="text-422"/>
          <p:cNvSpPr txBox="1"/>
          <p:nvPr/>
        </p:nvSpPr>
        <p:spPr>
          <a:xfrm>
            <a:off x="548640" y="63550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000" dirty="0">
                <a:solidFill>
                  <a:schemeClr val="accent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Anthropic Engineering「How we built Claude Code auto mode」(2026/03)・「How we contain Claude across products」</a:t>
            </a:r>
            <a:endParaRPr lang="ja-JP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ll-423"/>
          <p:cNvSpPr/>
          <p:nvPr/>
        </p:nvSpPr>
        <p:spPr>
          <a:xfrm>
            <a:off x="548640" y="365760"/>
            <a:ext cx="804672" cy="310896"/>
          </a:xfrm>
          <a:prstGeom prst="roundRect">
            <a:avLst>
              <a:gd name="adj" fmla="val 47059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2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議論</a:t>
            </a:r>
            <a:endParaRPr lang="ja-JP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7772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ja-JP" altLang="en-US" sz="34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 つの原則と、議論したいこと</a:t>
            </a:r>
            <a:endParaRPr lang="ja-JP" sz="3400" dirty="0"/>
          </a:p>
        </p:txBody>
      </p:sp>
      <p:sp>
        <p:nvSpPr>
          <p:cNvPr id="5" name="card-424"/>
          <p:cNvSpPr/>
          <p:nvPr/>
        </p:nvSpPr>
        <p:spPr>
          <a:xfrm>
            <a:off x="548640" y="1874520"/>
            <a:ext cx="603504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6" name="badge-425"/>
          <p:cNvSpPr/>
          <p:nvPr/>
        </p:nvSpPr>
        <p:spPr>
          <a:xfrm>
            <a:off x="822960" y="2176272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-426"/>
          <p:cNvSpPr txBox="1"/>
          <p:nvPr/>
        </p:nvSpPr>
        <p:spPr>
          <a:xfrm>
            <a:off x="1737360" y="209397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チェックが甘いと、成果もそこまで</a:t>
            </a:r>
            <a:endParaRPr lang="ja-JP" sz="1800" dirty="0"/>
          </a:p>
        </p:txBody>
      </p:sp>
      <p:sp>
        <p:nvSpPr>
          <p:cNvPr id="8" name="text-427"/>
          <p:cNvSpPr txBox="1"/>
          <p:nvPr/>
        </p:nvSpPr>
        <p:spPr>
          <a:xfrm>
            <a:off x="1737360" y="25877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500" dirty="0">
                <a:solidFill>
                  <a:schemeClr val="bg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測れない条件は、/goal も判定できない</a:t>
            </a:r>
            <a:endParaRPr lang="ja-JP" sz="1500" dirty="0"/>
          </a:p>
        </p:txBody>
      </p:sp>
      <p:sp>
        <p:nvSpPr>
          <p:cNvPr id="9" name="card-428"/>
          <p:cNvSpPr/>
          <p:nvPr/>
        </p:nvSpPr>
        <p:spPr>
          <a:xfrm>
            <a:off x="548640" y="3246120"/>
            <a:ext cx="603504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0" name="badge-429"/>
          <p:cNvSpPr/>
          <p:nvPr/>
        </p:nvSpPr>
        <p:spPr>
          <a:xfrm>
            <a:off x="822960" y="3547872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-430"/>
          <p:cNvSpPr txBox="1"/>
          <p:nvPr/>
        </p:nvSpPr>
        <p:spPr>
          <a:xfrm>
            <a:off x="1737360" y="346557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評価は独立させる</a:t>
            </a:r>
            <a:endParaRPr lang="ja-JP" sz="1800" dirty="0"/>
          </a:p>
        </p:txBody>
      </p:sp>
      <p:sp>
        <p:nvSpPr>
          <p:cNvPr id="12" name="text-431"/>
          <p:cNvSpPr txBox="1"/>
          <p:nvPr/>
        </p:nvSpPr>
        <p:spPr>
          <a:xfrm>
            <a:off x="1737360" y="39593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500" dirty="0">
                <a:solidFill>
                  <a:schemeClr val="bg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/goal の審判は、作業する agent とは別のモデル</a:t>
            </a:r>
            <a:endParaRPr lang="ja-JP" sz="1500" dirty="0"/>
          </a:p>
        </p:txBody>
      </p:sp>
      <p:sp>
        <p:nvSpPr>
          <p:cNvPr id="13" name="card-432"/>
          <p:cNvSpPr/>
          <p:nvPr/>
        </p:nvSpPr>
        <p:spPr>
          <a:xfrm>
            <a:off x="548640" y="4617720"/>
            <a:ext cx="603504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4" name="badge-433"/>
          <p:cNvSpPr/>
          <p:nvPr/>
        </p:nvSpPr>
        <p:spPr>
          <a:xfrm>
            <a:off x="822960" y="4919472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-434"/>
          <p:cNvSpPr txBox="1"/>
          <p:nvPr/>
        </p:nvSpPr>
        <p:spPr>
          <a:xfrm>
            <a:off x="1737360" y="483717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800" b="1" dirty="0">
                <a:solidFill>
                  <a:schemeClr val="bg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大事なルールは、貼り紙ではなく鍵で守る</a:t>
            </a:r>
            <a:endParaRPr lang="ja-JP" sz="1800" dirty="0"/>
          </a:p>
        </p:txBody>
      </p:sp>
      <p:sp>
        <p:nvSpPr>
          <p:cNvPr id="16" name="text-435"/>
          <p:cNvSpPr txBox="1"/>
          <p:nvPr/>
        </p:nvSpPr>
        <p:spPr>
          <a:xfrm>
            <a:off x="1737360" y="533095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500" dirty="0">
                <a:solidFill>
                  <a:schemeClr val="bg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sandbox・hook・CI を最後の砦にする</a:t>
            </a:r>
            <a:endParaRPr lang="ja-JP" sz="1500" dirty="0"/>
          </a:p>
        </p:txBody>
      </p:sp>
      <p:sp>
        <p:nvSpPr>
          <p:cNvPr id="17" name="card-436"/>
          <p:cNvSpPr/>
          <p:nvPr/>
        </p:nvSpPr>
        <p:spPr>
          <a:xfrm>
            <a:off x="6858000" y="1874520"/>
            <a:ext cx="4785055" cy="3977640"/>
          </a:xfrm>
          <a:prstGeom prst="roundRect">
            <a:avLst>
              <a:gd name="adj" fmla="val 2759"/>
            </a:avLst>
          </a:prstGeom>
          <a:solidFill>
            <a:schemeClr val="accent1"/>
          </a:solidFill>
          <a:ln/>
        </p:spPr>
      </p:sp>
      <p:sp>
        <p:nvSpPr>
          <p:cNvPr id="18" name="text-437"/>
          <p:cNvSpPr txBox="1"/>
          <p:nvPr/>
        </p:nvSpPr>
        <p:spPr>
          <a:xfrm>
            <a:off x="7178040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22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議論したいこと</a:t>
            </a:r>
            <a:endParaRPr lang="ja-JP" sz="2200" dirty="0"/>
          </a:p>
        </p:txBody>
      </p:sp>
      <p:sp>
        <p:nvSpPr>
          <p:cNvPr id="19" name="text-438"/>
          <p:cNvSpPr txBox="1"/>
          <p:nvPr/>
        </p:nvSpPr>
        <p:spPr>
          <a:xfrm>
            <a:off x="7178040" y="2743200"/>
            <a:ext cx="4206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ja-JP" altLang="en-US" sz="18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Q1  評価者を独立させるとき、何を独立させますか?(モデル・文脈・基準)</a:t>
            </a:r>
            <a:endParaRPr lang="ja-JP" sz="1800" dirty="0"/>
          </a:p>
          <a:p>
            <a:pPr indent="0" marL="0">
              <a:buNone/>
            </a:pPr>
            <a:r>
              <a:rPr lang="ja-JP" altLang="en-US" sz="1800" b="1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Q2  /goal に書くなら、皆さんの現場で「測れる終点」は何ですか?</a:t>
            </a:r>
            <a:endParaRPr lang="ja-JP" sz="1800" dirty="0"/>
          </a:p>
        </p:txBody>
      </p:sp>
      <p:sp>
        <p:nvSpPr>
          <p:cNvPr id="20" name="text-439"/>
          <p:cNvSpPr txBox="1"/>
          <p:nvPr/>
        </p:nvSpPr>
        <p:spPr>
          <a:xfrm>
            <a:off x="7178040" y="5166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400" dirty="0">
                <a:solidFill>
                  <a:schemeClr val="tx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Meet のチャットへの書き込みも歓迎です</a:t>
            </a:r>
            <a:endParaRPr lang="ja-JP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audeCodeTalk">
  <a:themeElements>
    <a:clrScheme name="ClaudeCodeTalk">
      <a:dk1>
        <a:srgbClr val="1F1F23"/>
      </a:dk1>
      <a:lt1>
        <a:srgbClr val="FFFFFF"/>
      </a:lt1>
      <a:dk2>
        <a:srgbClr val="2E2F36"/>
      </a:dk2>
      <a:lt2>
        <a:srgbClr val="F2F3F5"/>
      </a:lt2>
      <a:accent1>
        <a:srgbClr val="D4623A"/>
      </a:accent1>
      <a:accent2>
        <a:srgbClr val="2F7F86"/>
      </a:accent2>
      <a:accent3>
        <a:srgbClr val="5B606E"/>
      </a:accent3>
      <a:accent4>
        <a:srgbClr val="E3A72F"/>
      </a:accent4>
      <a:accent5>
        <a:srgbClr val="3F8F5F"/>
      </a:accent5>
      <a:accent6>
        <a:srgbClr val="B3372E"/>
      </a:accent6>
      <a:hlink>
        <a:srgbClr val="2F7F86"/>
      </a:hlink>
      <a:folHlink>
        <a:srgbClr val="5B606E"/>
      </a:folHlink>
    </a:clrScheme>
    <a:fontScheme name="ClaudeCodeTalk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公式ブログに学ぶ agent 設計の判断</dc:title>
  <dc:subject>PptxGenJS Presentation</dc:subject>
  <dc:creator>PptxGenJS</dc:creator>
  <cp:lastModifiedBy>PptxGenJS</cp:lastModifiedBy>
  <cp:revision>1</cp:revision>
  <dcterms:created xsi:type="dcterms:W3CDTF">2026-10-15T04:57:33Z</dcterms:created>
  <dcterms:modified xsi:type="dcterms:W3CDTF">2026-10-15T04:57:33Z</dcterms:modified>
</cp:coreProperties>
</file>